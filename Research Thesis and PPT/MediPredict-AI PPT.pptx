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86" r:id="rId1"/>
  </p:sldMasterIdLst>
  <p:notesMasterIdLst>
    <p:notesMasterId r:id="rId14"/>
  </p:notesMasterIdLst>
  <p:sldIdLst>
    <p:sldId id="266" r:id="rId2"/>
    <p:sldId id="256" r:id="rId3"/>
    <p:sldId id="257" r:id="rId4"/>
    <p:sldId id="258" r:id="rId5"/>
    <p:sldId id="259" r:id="rId6"/>
    <p:sldId id="260" r:id="rId7"/>
    <p:sldId id="261" r:id="rId8"/>
    <p:sldId id="262" r:id="rId9"/>
    <p:sldId id="263" r:id="rId10"/>
    <p:sldId id="264" r:id="rId11"/>
    <p:sldId id="265" r:id="rId12"/>
    <p:sldId id="267" r:id="rId13"/>
  </p:sldIdLst>
  <p:sldSz cx="9144000" cy="5143500" type="screen16x9"/>
  <p:notesSz cx="5143500" cy="9144000"/>
  <p:embeddedFontLst>
    <p:embeddedFont>
      <p:font typeface="Century Gothic" panose="020B0502020202020204" pitchFamily="34" charset="0"/>
      <p:regular r:id="rId15"/>
      <p:bold r:id="rId16"/>
      <p:italic r:id="rId17"/>
      <p:boldItalic r:id="rId18"/>
    </p:embeddedFont>
    <p:embeddedFont>
      <p:font typeface="Georgia" panose="02040502050405020303" pitchFamily="18" charset="0"/>
      <p:regular r:id="rId19"/>
      <p:bold r:id="rId20"/>
      <p:italic r:id="rId21"/>
      <p:boldItalic r:id="rId22"/>
    </p:embeddedFont>
    <p:embeddedFont>
      <p:font typeface="Goudy Stout" panose="0202090407030B020401" pitchFamily="18" charset="0"/>
      <p:regular r:id="rId23"/>
    </p:embeddedFont>
    <p:embeddedFont>
      <p:font typeface="Inter" panose="020B0604020202020204" charset="0"/>
      <p:regular r:id="rId24"/>
    </p:embeddedFont>
    <p:embeddedFont>
      <p:font typeface="Inter Bold" panose="020B0604020202020204" charset="0"/>
      <p:regular r:id="rId25"/>
    </p:embeddedFont>
    <p:embeddedFont>
      <p:font typeface="Petrona Bold" panose="020B0604020202020204" charset="0"/>
      <p:regular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930" y="77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8"/>
    </mc:Choice>
    <mc:Fallback>
      <c:style val="8"/>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862" b="0" i="0" u="none" strike="noStrike" baseline="0" dirty="0"/>
              <a:t>Model Performance Comparison</a:t>
            </a:r>
            <a:endParaRPr lang="en-IN" dirty="0"/>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Logistic Regression</c:v>
                </c:pt>
              </c:strCache>
            </c:strRef>
          </c:tx>
          <c:spPr>
            <a:solidFill>
              <a:schemeClr val="accent6">
                <a:tint val="77000"/>
              </a:schemeClr>
            </a:solidFill>
            <a:ln>
              <a:noFill/>
            </a:ln>
            <a:effectLst/>
          </c:spPr>
          <c:invertIfNegative val="0"/>
          <c:cat>
            <c:strRef>
              <c:f>Sheet1!$A$2:$A$5</c:f>
              <c:strCache>
                <c:ptCount val="4"/>
                <c:pt idx="0">
                  <c:v>Accuracy</c:v>
                </c:pt>
                <c:pt idx="1">
                  <c:v>Precision</c:v>
                </c:pt>
                <c:pt idx="2">
                  <c:v>Recall</c:v>
                </c:pt>
                <c:pt idx="3">
                  <c:v>F-1 Score</c:v>
                </c:pt>
              </c:strCache>
            </c:strRef>
          </c:cat>
          <c:val>
            <c:numRef>
              <c:f>Sheet1!$B$2:$B$5</c:f>
              <c:numCache>
                <c:formatCode>General</c:formatCode>
                <c:ptCount val="4"/>
                <c:pt idx="0">
                  <c:v>85.56</c:v>
                </c:pt>
                <c:pt idx="1">
                  <c:v>84.9</c:v>
                </c:pt>
                <c:pt idx="2">
                  <c:v>84.3</c:v>
                </c:pt>
                <c:pt idx="3">
                  <c:v>84.6</c:v>
                </c:pt>
              </c:numCache>
            </c:numRef>
          </c:val>
          <c:extLst>
            <c:ext xmlns:c16="http://schemas.microsoft.com/office/drawing/2014/chart" uri="{C3380CC4-5D6E-409C-BE32-E72D297353CC}">
              <c16:uniqueId val="{00000000-1668-4ABF-B664-F40EE364C5EE}"/>
            </c:ext>
          </c:extLst>
        </c:ser>
        <c:ser>
          <c:idx val="1"/>
          <c:order val="1"/>
          <c:tx>
            <c:strRef>
              <c:f>Sheet1!$C$1</c:f>
              <c:strCache>
                <c:ptCount val="1"/>
                <c:pt idx="0">
                  <c:v>Random Forest</c:v>
                </c:pt>
              </c:strCache>
            </c:strRef>
          </c:tx>
          <c:spPr>
            <a:solidFill>
              <a:schemeClr val="accent6">
                <a:shade val="76000"/>
              </a:schemeClr>
            </a:solidFill>
            <a:ln>
              <a:noFill/>
            </a:ln>
            <a:effectLst/>
          </c:spPr>
          <c:invertIfNegative val="0"/>
          <c:cat>
            <c:strRef>
              <c:f>Sheet1!$A$2:$A$5</c:f>
              <c:strCache>
                <c:ptCount val="4"/>
                <c:pt idx="0">
                  <c:v>Accuracy</c:v>
                </c:pt>
                <c:pt idx="1">
                  <c:v>Precision</c:v>
                </c:pt>
                <c:pt idx="2">
                  <c:v>Recall</c:v>
                </c:pt>
                <c:pt idx="3">
                  <c:v>F-1 Score</c:v>
                </c:pt>
              </c:strCache>
            </c:strRef>
          </c:cat>
          <c:val>
            <c:numRef>
              <c:f>Sheet1!$C$2:$C$5</c:f>
              <c:numCache>
                <c:formatCode>General</c:formatCode>
                <c:ptCount val="4"/>
                <c:pt idx="0">
                  <c:v>98.11</c:v>
                </c:pt>
                <c:pt idx="1">
                  <c:v>98.08</c:v>
                </c:pt>
                <c:pt idx="2">
                  <c:v>98.2</c:v>
                </c:pt>
                <c:pt idx="3">
                  <c:v>98.14</c:v>
                </c:pt>
              </c:numCache>
            </c:numRef>
          </c:val>
          <c:extLst>
            <c:ext xmlns:c16="http://schemas.microsoft.com/office/drawing/2014/chart" uri="{C3380CC4-5D6E-409C-BE32-E72D297353CC}">
              <c16:uniqueId val="{00000001-1668-4ABF-B664-F40EE364C5EE}"/>
            </c:ext>
          </c:extLst>
        </c:ser>
        <c:dLbls>
          <c:showLegendKey val="0"/>
          <c:showVal val="0"/>
          <c:showCatName val="0"/>
          <c:showSerName val="0"/>
          <c:showPercent val="0"/>
          <c:showBubbleSize val="0"/>
        </c:dLbls>
        <c:gapWidth val="219"/>
        <c:overlap val="-27"/>
        <c:axId val="1745896623"/>
        <c:axId val="1109696303"/>
      </c:barChart>
      <c:catAx>
        <c:axId val="1745896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09696303"/>
        <c:crosses val="autoZero"/>
        <c:auto val="1"/>
        <c:lblAlgn val="ctr"/>
        <c:lblOffset val="100"/>
        <c:noMultiLvlLbl val="0"/>
      </c:catAx>
      <c:valAx>
        <c:axId val="1109696303"/>
        <c:scaling>
          <c:orientation val="minMax"/>
          <c:max val="1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7458966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6">
  <a:schemeClr val="accent6"/>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6846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ctrTitle"/>
          </p:nvPr>
        </p:nvSpPr>
        <p:spPr>
          <a:xfrm>
            <a:off x="1028700" y="1352554"/>
            <a:ext cx="7086600" cy="1368822"/>
          </a:xfrm>
        </p:spPr>
        <p:txBody>
          <a:bodyPr anchor="b">
            <a:normAutofit/>
          </a:bodyPr>
          <a:lstStyle>
            <a:lvl1pPr algn="l">
              <a:defRPr sz="4500"/>
            </a:lvl1pPr>
          </a:lstStyle>
          <a:p>
            <a:r>
              <a:rPr lang="en-US"/>
              <a:t>Click to edit Master title style</a:t>
            </a:r>
            <a:endParaRPr lang="en-US" dirty="0"/>
          </a:p>
        </p:txBody>
      </p:sp>
      <p:sp>
        <p:nvSpPr>
          <p:cNvPr id="3" name="Subtitle 2"/>
          <p:cNvSpPr>
            <a:spLocks noGrp="1"/>
          </p:cNvSpPr>
          <p:nvPr>
            <p:ph type="subTitle" idx="1"/>
          </p:nvPr>
        </p:nvSpPr>
        <p:spPr>
          <a:xfrm>
            <a:off x="1028700" y="2724151"/>
            <a:ext cx="7086600" cy="514350"/>
          </a:xfrm>
        </p:spPr>
        <p:txBody>
          <a:bodyPr>
            <a:normAutofit/>
          </a:bodyPr>
          <a:lstStyle>
            <a:lvl1pPr marL="0" indent="0" algn="l">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932171" y="3235746"/>
            <a:ext cx="2183130" cy="280982"/>
          </a:xfrm>
        </p:spPr>
        <p:txBody>
          <a:body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11"/>
          </p:nvPr>
        </p:nvSpPr>
        <p:spPr>
          <a:xfrm>
            <a:off x="1028700" y="3242884"/>
            <a:ext cx="4800600" cy="273844"/>
          </a:xfrm>
        </p:spPr>
        <p:txBody>
          <a:bodyPr/>
          <a:lstStyle/>
          <a:p>
            <a:endParaRPr lang="en-US" dirty="0"/>
          </a:p>
        </p:txBody>
      </p:sp>
      <p:sp>
        <p:nvSpPr>
          <p:cNvPr id="6" name="Slide Number Placeholder 5"/>
          <p:cNvSpPr>
            <a:spLocks noGrp="1"/>
          </p:cNvSpPr>
          <p:nvPr>
            <p:ph type="sldNum" sz="quarter" idx="12"/>
          </p:nvPr>
        </p:nvSpPr>
        <p:spPr>
          <a:xfrm>
            <a:off x="6057900" y="1073150"/>
            <a:ext cx="2057400"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100720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7175746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1" y="565150"/>
            <a:ext cx="8115299" cy="2101451"/>
          </a:xfrm>
        </p:spPr>
        <p:txBody>
          <a:bodyPr anchor="b">
            <a:normAutofit/>
          </a:bodyPr>
          <a:lstStyle>
            <a:lvl1pPr algn="r">
              <a:defRPr sz="3000"/>
            </a:lvl1pPr>
          </a:lstStyle>
          <a:p>
            <a:r>
              <a:rPr lang="en-US"/>
              <a:t>Click to edit Master title style</a:t>
            </a:r>
            <a:endParaRPr lang="en-US" dirty="0"/>
          </a:p>
        </p:txBody>
      </p:sp>
      <p:sp>
        <p:nvSpPr>
          <p:cNvPr id="3" name="Text Placeholder 2"/>
          <p:cNvSpPr>
            <a:spLocks noGrp="1"/>
          </p:cNvSpPr>
          <p:nvPr>
            <p:ph type="body" idx="1"/>
          </p:nvPr>
        </p:nvSpPr>
        <p:spPr>
          <a:xfrm>
            <a:off x="768350" y="2731294"/>
            <a:ext cx="7867650" cy="716756"/>
          </a:xfrm>
        </p:spPr>
        <p:txBody>
          <a:bodyPr>
            <a:normAutofit/>
          </a:bodyPr>
          <a:lstStyle>
            <a:lvl1pPr marL="0" indent="0" algn="r">
              <a:buNone/>
              <a:defRPr sz="16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860839" y="285750"/>
            <a:ext cx="2183130" cy="273844"/>
          </a:xfrm>
        </p:spPr>
        <p:txBody>
          <a:bodyPr/>
          <a:lstStyle>
            <a:lvl1pPr algn="r">
              <a:defRPr/>
            </a:lvl1p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11"/>
          </p:nvPr>
        </p:nvSpPr>
        <p:spPr>
          <a:xfrm>
            <a:off x="514350" y="285751"/>
            <a:ext cx="5243619" cy="273049"/>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0329334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4350" y="1645920"/>
            <a:ext cx="4000500" cy="301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645920"/>
            <a:ext cx="4000500" cy="3018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775455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571500"/>
            <a:ext cx="6457950" cy="971550"/>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5807" y="1637852"/>
            <a:ext cx="3809993"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4351" y="2349500"/>
            <a:ext cx="3983831" cy="2314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0600" y="1637852"/>
            <a:ext cx="3829050" cy="617934"/>
          </a:xfrm>
        </p:spPr>
        <p:txBody>
          <a:bodyPr anchor="b">
            <a:norm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349500"/>
            <a:ext cx="4000500" cy="2314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7496390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50502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819050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3086100" cy="1200150"/>
          </a:xfrm>
        </p:spPr>
        <p:txBody>
          <a:bodyPr anchor="b"/>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3746686" y="560070"/>
            <a:ext cx="4882964" cy="410394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4350" y="2343150"/>
            <a:ext cx="308610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693706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0" y="1143000"/>
            <a:ext cx="5154930" cy="1200150"/>
          </a:xfrm>
        </p:spPr>
        <p:txBody>
          <a:bodyPr anchor="b"/>
          <a:lstStyle>
            <a:lvl1pPr algn="l">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895928" y="563431"/>
            <a:ext cx="2733722" cy="410058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0" y="2343150"/>
            <a:ext cx="5154930" cy="2320864"/>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0742435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33" y="3523021"/>
            <a:ext cx="8116526" cy="614516"/>
          </a:xfrm>
        </p:spPr>
        <p:txBody>
          <a:bodyPr anchor="b"/>
          <a:lstStyle>
            <a:lvl1pPr algn="l">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1295" y="706080"/>
            <a:ext cx="8116380" cy="260862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14350" y="4137537"/>
            <a:ext cx="8115300" cy="526477"/>
          </a:xfrm>
        </p:spPr>
        <p:txBody>
          <a:bodyPr/>
          <a:lstStyle>
            <a:lvl1pPr marL="0" indent="0" algn="l">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9394824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514350" y="565150"/>
            <a:ext cx="8115300" cy="2101850"/>
          </a:xfrm>
        </p:spPr>
        <p:txBody>
          <a:bodyPr anchor="ctr"/>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768350" y="2736850"/>
            <a:ext cx="7597887" cy="749300"/>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73889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51" y="565150"/>
            <a:ext cx="7613650" cy="1953371"/>
          </a:xfrm>
        </p:spPr>
        <p:txBody>
          <a:bodyPr anchor="ctr"/>
          <a:lstStyle>
            <a:lvl1pPr algn="l">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977899" y="2524168"/>
            <a:ext cx="7194552" cy="333332"/>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768351" y="2969897"/>
            <a:ext cx="7613650" cy="509903"/>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5750"/>
            <a:ext cx="2183130" cy="273844"/>
          </a:xfrm>
        </p:spPr>
        <p:txBody>
          <a:bodyPr/>
          <a:lstStyle>
            <a:lvl1pPr algn="r">
              <a:defRPr/>
            </a:lvl1p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a:xfrm>
            <a:off x="514350" y="284956"/>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D57F1E4F-1CFF-5643-939E-217C01CDF565}" type="slidenum">
              <a:rPr lang="en-US" smtClean="0"/>
              <a:pPr/>
              <a:t>‹#›</a:t>
            </a:fld>
            <a:endParaRPr lang="en-US" dirty="0"/>
          </a:p>
        </p:txBody>
      </p:sp>
      <p:sp>
        <p:nvSpPr>
          <p:cNvPr id="9" name="TextBox 8"/>
          <p:cNvSpPr txBox="1"/>
          <p:nvPr/>
        </p:nvSpPr>
        <p:spPr>
          <a:xfrm>
            <a:off x="357188" y="70008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0" name="TextBox 9"/>
          <p:cNvSpPr txBox="1"/>
          <p:nvPr/>
        </p:nvSpPr>
        <p:spPr>
          <a:xfrm>
            <a:off x="8238173" y="2025968"/>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815595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Title 1"/>
          <p:cNvSpPr>
            <a:spLocks noGrp="1"/>
          </p:cNvSpPr>
          <p:nvPr>
            <p:ph type="title"/>
          </p:nvPr>
        </p:nvSpPr>
        <p:spPr>
          <a:xfrm>
            <a:off x="768371" y="843526"/>
            <a:ext cx="7609640" cy="1883876"/>
          </a:xfrm>
        </p:spPr>
        <p:txBody>
          <a:bodyPr anchor="b"/>
          <a:lstStyle>
            <a:lvl1pPr algn="l">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768350" y="2736237"/>
            <a:ext cx="7608491" cy="749914"/>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860839" y="284163"/>
            <a:ext cx="2183130" cy="273844"/>
          </a:xfrm>
        </p:spPr>
        <p:txBody>
          <a:bodyPr/>
          <a:lstStyle>
            <a:lvl1pPr algn="r">
              <a:defRPr/>
            </a:lvl1pPr>
          </a:lstStyle>
          <a:p>
            <a:fld id="{B61BEF0D-F0BB-DE4B-95CE-6DB70DBA9567}" type="datetimeFigureOut">
              <a:rPr lang="en-US" smtClean="0"/>
              <a:pPr/>
              <a:t>7/13/2026</a:t>
            </a:fld>
            <a:endParaRPr lang="en-US" dirty="0"/>
          </a:p>
        </p:txBody>
      </p:sp>
      <p:sp>
        <p:nvSpPr>
          <p:cNvPr id="6" name="Footer Placeholder 5"/>
          <p:cNvSpPr>
            <a:spLocks noGrp="1"/>
          </p:cNvSpPr>
          <p:nvPr>
            <p:ph type="ftr" sz="quarter" idx="11"/>
          </p:nvPr>
        </p:nvSpPr>
        <p:spPr>
          <a:xfrm>
            <a:off x="514350" y="284163"/>
            <a:ext cx="5243619" cy="273844"/>
          </a:xfrm>
        </p:spPr>
        <p:txBody>
          <a:bodyPr/>
          <a:lstStyle/>
          <a:p>
            <a:endParaRPr lang="en-US" dirty="0"/>
          </a:p>
        </p:txBody>
      </p:sp>
      <p:sp>
        <p:nvSpPr>
          <p:cNvPr id="7" name="Slide Number Placeholder 6"/>
          <p:cNvSpPr>
            <a:spLocks noGrp="1"/>
          </p:cNvSpPr>
          <p:nvPr>
            <p:ph type="sldNum" sz="quarter" idx="12"/>
          </p:nvPr>
        </p:nvSpPr>
        <p:spPr>
          <a:xfrm>
            <a:off x="8146839" y="285750"/>
            <a:ext cx="482811"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2082547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571500"/>
            <a:ext cx="6457949" cy="9779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514350" y="1651560"/>
            <a:ext cx="2592324" cy="462990"/>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514349"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276600" y="165099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275144" y="2178050"/>
            <a:ext cx="2592324" cy="2485964"/>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6038850" y="1644649"/>
            <a:ext cx="2592324" cy="469901"/>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6038851" y="2178424"/>
            <a:ext cx="2592324" cy="248559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287465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1" y="571500"/>
            <a:ext cx="6457949" cy="9715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16463" y="3143250"/>
            <a:ext cx="2588687"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516463" y="1771650"/>
            <a:ext cx="2588687"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516463" y="3655323"/>
            <a:ext cx="2588687"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280698" y="3143250"/>
            <a:ext cx="2586701"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280697" y="1771650"/>
            <a:ext cx="2586702"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280699" y="3655323"/>
            <a:ext cx="2586701"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6037299" y="3143250"/>
            <a:ext cx="2592352" cy="512074"/>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037391" y="1771650"/>
            <a:ext cx="2585909" cy="1143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6037299" y="3655321"/>
            <a:ext cx="2589334" cy="1008691"/>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3245441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4350" y="1645920"/>
            <a:ext cx="8115300" cy="301809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2728365"/>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81362"/>
            <a:ext cx="9144000" cy="1862138"/>
          </a:xfrm>
          <a:prstGeom prst="rect">
            <a:avLst/>
          </a:prstGeom>
        </p:spPr>
      </p:pic>
      <p:sp>
        <p:nvSpPr>
          <p:cNvPr id="2" name="Vertical Title 1"/>
          <p:cNvSpPr>
            <a:spLocks noGrp="1"/>
          </p:cNvSpPr>
          <p:nvPr>
            <p:ph type="title" orient="vert"/>
          </p:nvPr>
        </p:nvSpPr>
        <p:spPr>
          <a:xfrm>
            <a:off x="7086600" y="558800"/>
            <a:ext cx="1543050" cy="292735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68350" y="558800"/>
            <a:ext cx="6153151" cy="2927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860839" y="284956"/>
            <a:ext cx="2183130" cy="273844"/>
          </a:xfrm>
        </p:spPr>
        <p:txBody>
          <a:bodyPr/>
          <a:lstStyle>
            <a:lvl1pPr algn="r">
              <a:defRPr/>
            </a:lvl1p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11"/>
          </p:nvPr>
        </p:nvSpPr>
        <p:spPr>
          <a:xfrm>
            <a:off x="514350" y="285750"/>
            <a:ext cx="5243619" cy="273844"/>
          </a:xfrm>
        </p:spPr>
        <p:txBody>
          <a:bodyPr/>
          <a:lstStyle/>
          <a:p>
            <a:endParaRPr lang="en-US" dirty="0"/>
          </a:p>
        </p:txBody>
      </p:sp>
      <p:sp>
        <p:nvSpPr>
          <p:cNvPr id="6" name="Slide Number Placeholder 5"/>
          <p:cNvSpPr>
            <a:spLocks noGrp="1"/>
          </p:cNvSpPr>
          <p:nvPr>
            <p:ph type="sldNum" sz="quarter" idx="12"/>
          </p:nvPr>
        </p:nvSpPr>
        <p:spPr>
          <a:xfrm>
            <a:off x="8146839" y="285750"/>
            <a:ext cx="482811" cy="273844"/>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184254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492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573280"/>
            <a:ext cx="6457950" cy="96977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4350" y="1645920"/>
            <a:ext cx="8115300" cy="301809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46520" y="4767263"/>
            <a:ext cx="218313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B61BEF0D-F0BB-DE4B-95CE-6DB70DBA9567}" type="datetimeFigureOut">
              <a:rPr lang="en-US" smtClean="0"/>
              <a:pPr/>
              <a:t>7/13/2026</a:t>
            </a:fld>
            <a:endParaRPr lang="en-US" dirty="0"/>
          </a:p>
        </p:txBody>
      </p:sp>
      <p:sp>
        <p:nvSpPr>
          <p:cNvPr id="5" name="Footer Placeholder 4"/>
          <p:cNvSpPr>
            <a:spLocks noGrp="1"/>
          </p:cNvSpPr>
          <p:nvPr>
            <p:ph type="ftr" sz="quarter" idx="3"/>
          </p:nvPr>
        </p:nvSpPr>
        <p:spPr>
          <a:xfrm>
            <a:off x="514350" y="4766884"/>
            <a:ext cx="5829300" cy="273844"/>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72250" y="285750"/>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296550"/>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 id="2147483804" r:id="rId18"/>
  </p:sldLayoutIdLst>
  <p:hf sldNum="0" hdr="0" ftr="0" dt="0"/>
  <p:txStyles>
    <p:titleStyle>
      <a:lvl1pPr algn="r" defTabSz="685800" rtl="0" eaLnBrk="1" latinLnBrk="0" hangingPunct="1">
        <a:lnSpc>
          <a:spcPct val="90000"/>
        </a:lnSpc>
        <a:spcBef>
          <a:spcPct val="0"/>
        </a:spcBef>
        <a:buNone/>
        <a:defRPr sz="3000" kern="1200" cap="all" baseline="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65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hyperlink" Target="https://www.vecteezy.com/vector-art/20949130-bright-and-colorful-donut-chart-illustration" TargetMode="External"/><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8.jpg"/><Relationship Id="rId5" Type="http://schemas.openxmlformats.org/officeDocument/2006/relationships/hyperlink" Target="https://www.publicdomainpictures.net/en/view-image.php?image=349564&amp;picture=target-board-clipart" TargetMode="External"/><Relationship Id="rId4" Type="http://schemas.openxmlformats.org/officeDocument/2006/relationships/image" Target="../media/image7.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8.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epartment of Computer Science &amp; Engineering">
            <a:extLst>
              <a:ext uri="{FF2B5EF4-FFF2-40B4-BE49-F238E27FC236}">
                <a16:creationId xmlns:a16="http://schemas.microsoft.com/office/drawing/2014/main" id="{1DCD8304-CE74-AFF1-7CEA-BE304657D895}"/>
              </a:ext>
            </a:extLst>
          </p:cNvPr>
          <p:cNvSpPr txBox="1">
            <a:spLocks noGrp="1"/>
          </p:cNvSpPr>
          <p:nvPr/>
        </p:nvSpPr>
        <p:spPr>
          <a:xfrm>
            <a:off x="2035632" y="236229"/>
            <a:ext cx="5206127" cy="379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lIns="50800" tIns="50800" rIns="50800" bIns="50800" anchor="ctr">
            <a:normAutofit/>
          </a:bodyPr>
          <a:lstStyle>
            <a:lvl1pPr marL="0" marR="0" indent="0" algn="ctr" defTabSz="2438338" rtl="0" latinLnBrk="0">
              <a:lnSpc>
                <a:spcPct val="80000"/>
              </a:lnSpc>
              <a:spcBef>
                <a:spcPts val="0"/>
              </a:spcBef>
              <a:spcAft>
                <a:spcPts val="0"/>
              </a:spcAft>
              <a:buClrTx/>
              <a:buSzTx/>
              <a:buFontTx/>
              <a:buNone/>
              <a:tabLst/>
              <a:defRPr sz="5300" b="0" i="0" u="none" strike="noStrike" cap="none" spc="-105" baseline="0">
                <a:solidFill>
                  <a:srgbClr val="000000"/>
                </a:solidFill>
                <a:uFillTx/>
                <a:latin typeface="Helvetica Neue Medium"/>
                <a:ea typeface="Helvetica Neue Medium"/>
                <a:cs typeface="Helvetica Neue Medium"/>
                <a:sym typeface="Helvetica Neue Medium"/>
              </a:defRPr>
            </a:lvl1pPr>
            <a:lvl2pPr marL="0" marR="0" indent="457200" algn="ctr" defTabSz="2438338" rtl="0" latinLnBrk="0">
              <a:lnSpc>
                <a:spcPct val="80000"/>
              </a:lnSpc>
              <a:spcBef>
                <a:spcPts val="0"/>
              </a:spcBef>
              <a:spcAft>
                <a:spcPts val="0"/>
              </a:spcAft>
              <a:buClrTx/>
              <a:buSzTx/>
              <a:buFontTx/>
              <a:buNone/>
              <a:tabLst/>
              <a:defRPr sz="11600" b="0" i="0" u="none" strike="noStrike" cap="none" spc="-232" baseline="0">
                <a:solidFill>
                  <a:srgbClr val="000000"/>
                </a:solidFill>
                <a:uFillTx/>
                <a:latin typeface="Helvetica Neue Medium"/>
                <a:ea typeface="Helvetica Neue Medium"/>
                <a:cs typeface="Helvetica Neue Medium"/>
                <a:sym typeface="Helvetica Neue Medium"/>
              </a:defRPr>
            </a:lvl2pPr>
            <a:lvl3pPr marL="0" marR="0" indent="914400" algn="ctr" defTabSz="2438338" rtl="0" latinLnBrk="0">
              <a:lnSpc>
                <a:spcPct val="80000"/>
              </a:lnSpc>
              <a:spcBef>
                <a:spcPts val="0"/>
              </a:spcBef>
              <a:spcAft>
                <a:spcPts val="0"/>
              </a:spcAft>
              <a:buClrTx/>
              <a:buSzTx/>
              <a:buFontTx/>
              <a:buNone/>
              <a:tabLst/>
              <a:defRPr sz="11600" b="0" i="0" u="none" strike="noStrike" cap="none" spc="-232" baseline="0">
                <a:solidFill>
                  <a:srgbClr val="000000"/>
                </a:solidFill>
                <a:uFillTx/>
                <a:latin typeface="Helvetica Neue Medium"/>
                <a:ea typeface="Helvetica Neue Medium"/>
                <a:cs typeface="Helvetica Neue Medium"/>
                <a:sym typeface="Helvetica Neue Medium"/>
              </a:defRPr>
            </a:lvl3pPr>
            <a:lvl4pPr marL="0" marR="0" indent="1371600" algn="ctr" defTabSz="2438338" rtl="0" latinLnBrk="0">
              <a:lnSpc>
                <a:spcPct val="80000"/>
              </a:lnSpc>
              <a:spcBef>
                <a:spcPts val="0"/>
              </a:spcBef>
              <a:spcAft>
                <a:spcPts val="0"/>
              </a:spcAft>
              <a:buClrTx/>
              <a:buSzTx/>
              <a:buFontTx/>
              <a:buNone/>
              <a:tabLst/>
              <a:defRPr sz="11600" b="0" i="0" u="none" strike="noStrike" cap="none" spc="-232" baseline="0">
                <a:solidFill>
                  <a:srgbClr val="000000"/>
                </a:solidFill>
                <a:uFillTx/>
                <a:latin typeface="Helvetica Neue Medium"/>
                <a:ea typeface="Helvetica Neue Medium"/>
                <a:cs typeface="Helvetica Neue Medium"/>
                <a:sym typeface="Helvetica Neue Medium"/>
              </a:defRPr>
            </a:lvl4pPr>
            <a:lvl5pPr marL="0" marR="0" indent="1828800" algn="ctr" defTabSz="2438338" rtl="0" latinLnBrk="0">
              <a:lnSpc>
                <a:spcPct val="80000"/>
              </a:lnSpc>
              <a:spcBef>
                <a:spcPts val="0"/>
              </a:spcBef>
              <a:spcAft>
                <a:spcPts val="0"/>
              </a:spcAft>
              <a:buClrTx/>
              <a:buSzTx/>
              <a:buFontTx/>
              <a:buNone/>
              <a:tabLst/>
              <a:defRPr sz="11600" b="0" i="0" u="none" strike="noStrike" cap="none" spc="-232" baseline="0">
                <a:solidFill>
                  <a:srgbClr val="000000"/>
                </a:solidFill>
                <a:uFillTx/>
                <a:latin typeface="Helvetica Neue Medium"/>
                <a:ea typeface="Helvetica Neue Medium"/>
                <a:cs typeface="Helvetica Neue Medium"/>
                <a:sym typeface="Helvetica Neue Medium"/>
              </a:defRPr>
            </a:lvl5pPr>
            <a:lvl6pPr marL="36576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Helvetica Neue"/>
                <a:ea typeface="Helvetica Neue"/>
                <a:cs typeface="Helvetica Neue"/>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Helvetica Neue"/>
                <a:ea typeface="Helvetica Neue"/>
                <a:cs typeface="Helvetica Neue"/>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Helvetica Neue"/>
                <a:ea typeface="Helvetica Neue"/>
                <a:cs typeface="Helvetica Neue"/>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Helvetica Neue"/>
                <a:ea typeface="Helvetica Neue"/>
                <a:cs typeface="Helvetica Neue"/>
                <a:sym typeface="Helvetica Neue"/>
              </a:defRPr>
            </a:lvl9pPr>
          </a:lstStyle>
          <a:p>
            <a:r>
              <a:rPr sz="2000" dirty="0"/>
              <a:t>Department of Computer Science &amp; Engineering </a:t>
            </a:r>
          </a:p>
        </p:txBody>
      </p:sp>
      <p:pic>
        <p:nvPicPr>
          <p:cNvPr id="3" name="logo1.png">
            <a:extLst>
              <a:ext uri="{FF2B5EF4-FFF2-40B4-BE49-F238E27FC236}">
                <a16:creationId xmlns:a16="http://schemas.microsoft.com/office/drawing/2014/main" id="{0D18842E-FBCF-D875-F7DE-19A433F51AF8}"/>
              </a:ext>
            </a:extLst>
          </p:cNvPr>
          <p:cNvPicPr>
            <a:picLocks noChangeAspect="1"/>
          </p:cNvPicPr>
          <p:nvPr/>
        </p:nvPicPr>
        <p:blipFill>
          <a:blip r:embed="rId2"/>
          <a:stretch>
            <a:fillRect/>
          </a:stretch>
        </p:blipFill>
        <p:spPr>
          <a:xfrm>
            <a:off x="280311" y="365460"/>
            <a:ext cx="1035869" cy="1306745"/>
          </a:xfrm>
          <a:prstGeom prst="rect">
            <a:avLst/>
          </a:prstGeom>
          <a:ln w="12700">
            <a:miter lim="400000"/>
          </a:ln>
        </p:spPr>
      </p:pic>
      <p:pic>
        <p:nvPicPr>
          <p:cNvPr id="4" name="naac2.png">
            <a:extLst>
              <a:ext uri="{FF2B5EF4-FFF2-40B4-BE49-F238E27FC236}">
                <a16:creationId xmlns:a16="http://schemas.microsoft.com/office/drawing/2014/main" id="{19740A7C-958E-12EB-6B17-DCE388C84814}"/>
              </a:ext>
            </a:extLst>
          </p:cNvPr>
          <p:cNvPicPr>
            <a:picLocks noChangeAspect="1"/>
          </p:cNvPicPr>
          <p:nvPr/>
        </p:nvPicPr>
        <p:blipFill>
          <a:blip r:embed="rId3"/>
          <a:stretch>
            <a:fillRect/>
          </a:stretch>
        </p:blipFill>
        <p:spPr>
          <a:xfrm>
            <a:off x="7848915" y="342894"/>
            <a:ext cx="1150065" cy="1175674"/>
          </a:xfrm>
          <a:prstGeom prst="rect">
            <a:avLst/>
          </a:prstGeom>
          <a:ln w="12700">
            <a:miter lim="400000"/>
          </a:ln>
        </p:spPr>
      </p:pic>
      <p:sp>
        <p:nvSpPr>
          <p:cNvPr id="5" name="Chhattisgarh Swami Vivekanand Technical University">
            <a:extLst>
              <a:ext uri="{FF2B5EF4-FFF2-40B4-BE49-F238E27FC236}">
                <a16:creationId xmlns:a16="http://schemas.microsoft.com/office/drawing/2014/main" id="{C5CEC66A-5ED0-6F40-CD71-84942A48A7A8}"/>
              </a:ext>
            </a:extLst>
          </p:cNvPr>
          <p:cNvSpPr txBox="1"/>
          <p:nvPr/>
        </p:nvSpPr>
        <p:spPr>
          <a:xfrm>
            <a:off x="1765422" y="505476"/>
            <a:ext cx="5700248" cy="351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r>
              <a:rPr sz="1800" dirty="0"/>
              <a:t>Chhattisgarh Swami Vivekanand Technical University </a:t>
            </a:r>
          </a:p>
        </p:txBody>
      </p:sp>
      <p:sp>
        <p:nvSpPr>
          <p:cNvPr id="6" name="Bhilai (India)">
            <a:extLst>
              <a:ext uri="{FF2B5EF4-FFF2-40B4-BE49-F238E27FC236}">
                <a16:creationId xmlns:a16="http://schemas.microsoft.com/office/drawing/2014/main" id="{0C2F0B68-FA7B-8499-E628-EBA4AE93DBE5}"/>
              </a:ext>
            </a:extLst>
          </p:cNvPr>
          <p:cNvSpPr txBox="1"/>
          <p:nvPr/>
        </p:nvSpPr>
        <p:spPr>
          <a:xfrm>
            <a:off x="3832175" y="808438"/>
            <a:ext cx="1384995" cy="3518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0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r>
              <a:rPr sz="1800" dirty="0" err="1"/>
              <a:t>Bhilai</a:t>
            </a:r>
            <a:r>
              <a:rPr sz="1800" dirty="0"/>
              <a:t> (India)</a:t>
            </a:r>
          </a:p>
        </p:txBody>
      </p:sp>
      <p:pic>
        <p:nvPicPr>
          <p:cNvPr id="7" name="Csvtulogo.png">
            <a:extLst>
              <a:ext uri="{FF2B5EF4-FFF2-40B4-BE49-F238E27FC236}">
                <a16:creationId xmlns:a16="http://schemas.microsoft.com/office/drawing/2014/main" id="{A0A9EA7D-1BBA-94DB-9872-84B35867A1CA}"/>
              </a:ext>
            </a:extLst>
          </p:cNvPr>
          <p:cNvPicPr>
            <a:picLocks noChangeAspect="1"/>
          </p:cNvPicPr>
          <p:nvPr/>
        </p:nvPicPr>
        <p:blipFill>
          <a:blip r:embed="rId4"/>
          <a:stretch>
            <a:fillRect/>
          </a:stretch>
        </p:blipFill>
        <p:spPr>
          <a:xfrm>
            <a:off x="3919277" y="1203410"/>
            <a:ext cx="888758" cy="937591"/>
          </a:xfrm>
          <a:prstGeom prst="rect">
            <a:avLst/>
          </a:prstGeom>
          <a:ln w="12700">
            <a:miter lim="400000"/>
          </a:ln>
        </p:spPr>
      </p:pic>
      <p:sp>
        <p:nvSpPr>
          <p:cNvPr id="8" name="Major Project Presentation…">
            <a:extLst>
              <a:ext uri="{FF2B5EF4-FFF2-40B4-BE49-F238E27FC236}">
                <a16:creationId xmlns:a16="http://schemas.microsoft.com/office/drawing/2014/main" id="{DDB63DC5-71BF-C33F-EC9A-C33FF9CA2CF9}"/>
              </a:ext>
            </a:extLst>
          </p:cNvPr>
          <p:cNvSpPr txBox="1"/>
          <p:nvPr/>
        </p:nvSpPr>
        <p:spPr>
          <a:xfrm>
            <a:off x="3186691" y="2375306"/>
            <a:ext cx="2519921" cy="1862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lnSpc>
                <a:spcPct val="20000"/>
              </a:lnSpc>
            </a:pPr>
            <a:r>
              <a:rPr sz="1600" dirty="0"/>
              <a:t>Major Project Presentation</a:t>
            </a:r>
          </a:p>
        </p:txBody>
      </p:sp>
      <p:sp>
        <p:nvSpPr>
          <p:cNvPr id="9" name="Raipur Institute of Technology,Raipur…">
            <a:extLst>
              <a:ext uri="{FF2B5EF4-FFF2-40B4-BE49-F238E27FC236}">
                <a16:creationId xmlns:a16="http://schemas.microsoft.com/office/drawing/2014/main" id="{D96AFC0A-8DA0-83AD-7B34-54DEEA8DF336}"/>
              </a:ext>
            </a:extLst>
          </p:cNvPr>
          <p:cNvSpPr txBox="1"/>
          <p:nvPr/>
        </p:nvSpPr>
        <p:spPr>
          <a:xfrm>
            <a:off x="1990746" y="4090246"/>
            <a:ext cx="5295898" cy="138396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0800" tIns="50800" rIns="50800" bIns="50800">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lnSpc>
                <a:spcPct val="10000"/>
              </a:lnSpc>
              <a:defRPr sz="3400"/>
            </a:pPr>
            <a:r>
              <a:rPr sz="1600" dirty="0"/>
              <a:t>Raipur Institute of </a:t>
            </a:r>
            <a:r>
              <a:rPr sz="1600" dirty="0" err="1"/>
              <a:t>Technology,Raipur</a:t>
            </a:r>
            <a:endParaRPr sz="1600" dirty="0"/>
          </a:p>
          <a:p>
            <a:pPr algn="ctr">
              <a:lnSpc>
                <a:spcPct val="10000"/>
              </a:lnSpc>
              <a:spcAft>
                <a:spcPts val="50"/>
              </a:spcAft>
              <a:defRPr sz="3400"/>
            </a:pPr>
            <a:endParaRPr sz="1600" dirty="0"/>
          </a:p>
          <a:p>
            <a:pPr algn="ctr">
              <a:lnSpc>
                <a:spcPct val="10000"/>
              </a:lnSpc>
              <a:defRPr sz="3400"/>
            </a:pPr>
            <a:endParaRPr sz="1600" dirty="0"/>
          </a:p>
        </p:txBody>
      </p:sp>
      <p:sp>
        <p:nvSpPr>
          <p:cNvPr id="10" name="“Student Feedback System”">
            <a:extLst>
              <a:ext uri="{FF2B5EF4-FFF2-40B4-BE49-F238E27FC236}">
                <a16:creationId xmlns:a16="http://schemas.microsoft.com/office/drawing/2014/main" id="{8B64FB1C-E3A2-DDAF-A53C-53CC992971EE}"/>
              </a:ext>
            </a:extLst>
          </p:cNvPr>
          <p:cNvSpPr txBox="1"/>
          <p:nvPr/>
        </p:nvSpPr>
        <p:spPr>
          <a:xfrm>
            <a:off x="2157685" y="2760886"/>
            <a:ext cx="4847609" cy="37959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non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r>
              <a:rPr lang="en-IN" sz="2000" dirty="0"/>
              <a:t>Multi-Disease Prediction using AI &amp; ML</a:t>
            </a:r>
          </a:p>
        </p:txBody>
      </p:sp>
      <p:sp>
        <p:nvSpPr>
          <p:cNvPr id="11" name="Submitted By:-…">
            <a:extLst>
              <a:ext uri="{FF2B5EF4-FFF2-40B4-BE49-F238E27FC236}">
                <a16:creationId xmlns:a16="http://schemas.microsoft.com/office/drawing/2014/main" id="{2A8F848D-917B-DD0C-B82B-72B9E43D30FD}"/>
              </a:ext>
            </a:extLst>
          </p:cNvPr>
          <p:cNvSpPr txBox="1"/>
          <p:nvPr/>
        </p:nvSpPr>
        <p:spPr>
          <a:xfrm>
            <a:off x="3548796" y="3388646"/>
            <a:ext cx="1828635" cy="8556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lc="http://schemas.openxmlformats.org/drawingml/2006/lockedCanvas" val="1"/>
            </a:ext>
          </a:extLst>
        </p:spPr>
        <p:txBody>
          <a:bodyPr wrap="square" lIns="50800" tIns="50800" rIns="50800" bIns="5080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Helvetica Neue"/>
                <a:ea typeface="Helvetica Neue"/>
                <a:cs typeface="Helvetica Neue"/>
                <a:sym typeface="Helvetica Neue"/>
              </a:defRPr>
            </a:lvl9pPr>
          </a:lstStyle>
          <a:p>
            <a:pPr algn="ctr">
              <a:lnSpc>
                <a:spcPct val="30000"/>
              </a:lnSpc>
              <a:defRPr sz="2500"/>
            </a:pPr>
            <a:r>
              <a:rPr lang="en-IN" sz="1600" dirty="0"/>
              <a:t>Submitted by:</a:t>
            </a:r>
          </a:p>
          <a:p>
            <a:pPr algn="ctr">
              <a:lnSpc>
                <a:spcPct val="30000"/>
              </a:lnSpc>
              <a:defRPr sz="2500"/>
            </a:pPr>
            <a:endParaRPr sz="1600" dirty="0"/>
          </a:p>
        </p:txBody>
      </p:sp>
      <p:sp>
        <p:nvSpPr>
          <p:cNvPr id="12" name="TextBox 11">
            <a:extLst>
              <a:ext uri="{FF2B5EF4-FFF2-40B4-BE49-F238E27FC236}">
                <a16:creationId xmlns:a16="http://schemas.microsoft.com/office/drawing/2014/main" id="{57A8B33F-FB54-B175-FA4B-6662DC26BE99}"/>
              </a:ext>
            </a:extLst>
          </p:cNvPr>
          <p:cNvSpPr txBox="1"/>
          <p:nvPr/>
        </p:nvSpPr>
        <p:spPr>
          <a:xfrm>
            <a:off x="4074268" y="2444298"/>
            <a:ext cx="578776" cy="338554"/>
          </a:xfrm>
          <a:prstGeom prst="rect">
            <a:avLst/>
          </a:prstGeom>
          <a:noFill/>
        </p:spPr>
        <p:txBody>
          <a:bodyPr wrap="square">
            <a:spAutoFit/>
          </a:bodyPr>
          <a:lstStyle/>
          <a:p>
            <a:pPr algn="ctr"/>
            <a:r>
              <a:rPr lang="en-IN" sz="1600" b="1" dirty="0"/>
              <a:t>on</a:t>
            </a:r>
          </a:p>
        </p:txBody>
      </p:sp>
      <p:grpSp>
        <p:nvGrpSpPr>
          <p:cNvPr id="26" name="Group 25">
            <a:extLst>
              <a:ext uri="{FF2B5EF4-FFF2-40B4-BE49-F238E27FC236}">
                <a16:creationId xmlns:a16="http://schemas.microsoft.com/office/drawing/2014/main" id="{5168B5E2-9C8A-3A63-2CF0-2D4B5356C14F}"/>
              </a:ext>
            </a:extLst>
          </p:cNvPr>
          <p:cNvGrpSpPr/>
          <p:nvPr/>
        </p:nvGrpSpPr>
        <p:grpSpPr>
          <a:xfrm>
            <a:off x="672633" y="4191693"/>
            <a:ext cx="7733235" cy="794317"/>
            <a:chOff x="2852733" y="6873034"/>
            <a:chExt cx="8073857" cy="794317"/>
          </a:xfrm>
        </p:grpSpPr>
        <p:sp>
          <p:nvSpPr>
            <p:cNvPr id="13" name="TextBox 12">
              <a:extLst>
                <a:ext uri="{FF2B5EF4-FFF2-40B4-BE49-F238E27FC236}">
                  <a16:creationId xmlns:a16="http://schemas.microsoft.com/office/drawing/2014/main" id="{BA65AA02-1279-4EED-8DCD-10FA77ECE27E}"/>
                </a:ext>
              </a:extLst>
            </p:cNvPr>
            <p:cNvSpPr txBox="1"/>
            <p:nvPr/>
          </p:nvSpPr>
          <p:spPr>
            <a:xfrm>
              <a:off x="2852733" y="6873034"/>
              <a:ext cx="8073857" cy="338554"/>
            </a:xfrm>
            <a:prstGeom prst="rect">
              <a:avLst/>
            </a:prstGeom>
            <a:noFill/>
          </p:spPr>
          <p:txBody>
            <a:bodyPr wrap="square">
              <a:spAutoFit/>
            </a:bodyPr>
            <a:lstStyle/>
            <a:p>
              <a:pPr algn="ctr"/>
              <a:r>
                <a:rPr lang="en-US" sz="1600" dirty="0" err="1">
                  <a:latin typeface="Helvetica Neue"/>
                </a:rPr>
                <a:t>Chhatauna,Mandir</a:t>
              </a:r>
              <a:r>
                <a:rPr lang="en-US" sz="1600" dirty="0">
                  <a:latin typeface="Helvetica Neue"/>
                </a:rPr>
                <a:t> </a:t>
              </a:r>
              <a:r>
                <a:rPr lang="en-US" sz="1600" dirty="0" err="1">
                  <a:latin typeface="Helvetica Neue"/>
                </a:rPr>
                <a:t>Hasaud</a:t>
              </a:r>
              <a:r>
                <a:rPr lang="en-US" sz="1600" dirty="0">
                  <a:latin typeface="Helvetica Neue"/>
                </a:rPr>
                <a:t> , Raipur (C.G.),India - 492101</a:t>
              </a:r>
              <a:endParaRPr lang="en-IN" sz="1600" dirty="0">
                <a:latin typeface="Helvetica Neue"/>
              </a:endParaRPr>
            </a:p>
          </p:txBody>
        </p:sp>
        <p:sp>
          <p:nvSpPr>
            <p:cNvPr id="14" name="TextBox 13">
              <a:extLst>
                <a:ext uri="{FF2B5EF4-FFF2-40B4-BE49-F238E27FC236}">
                  <a16:creationId xmlns:a16="http://schemas.microsoft.com/office/drawing/2014/main" id="{9086AAC3-CBF2-D2B3-3FA2-65043C748983}"/>
                </a:ext>
              </a:extLst>
            </p:cNvPr>
            <p:cNvSpPr txBox="1"/>
            <p:nvPr/>
          </p:nvSpPr>
          <p:spPr>
            <a:xfrm>
              <a:off x="3209760" y="7281453"/>
              <a:ext cx="7349924" cy="157479"/>
            </a:xfrm>
            <a:prstGeom prst="rect">
              <a:avLst/>
            </a:prstGeom>
            <a:noFill/>
          </p:spPr>
          <p:txBody>
            <a:bodyPr wrap="square">
              <a:spAutoFit/>
            </a:bodyPr>
            <a:lstStyle/>
            <a:p>
              <a:pPr algn="ctr">
                <a:lnSpc>
                  <a:spcPct val="10000"/>
                </a:lnSpc>
                <a:defRPr sz="3400"/>
              </a:pPr>
              <a:r>
                <a:rPr lang="en-IN" sz="1600" dirty="0">
                  <a:latin typeface="Helvetica Neue"/>
                </a:rPr>
                <a:t>Phone :91-0771-3250790 ,3208824 Fax:91-0771-2537634</a:t>
              </a:r>
            </a:p>
          </p:txBody>
        </p:sp>
        <p:sp>
          <p:nvSpPr>
            <p:cNvPr id="15" name="TextBox 14">
              <a:extLst>
                <a:ext uri="{FF2B5EF4-FFF2-40B4-BE49-F238E27FC236}">
                  <a16:creationId xmlns:a16="http://schemas.microsoft.com/office/drawing/2014/main" id="{5F1D3C32-459E-2CF1-1FC2-2786940A09D8}"/>
                </a:ext>
              </a:extLst>
            </p:cNvPr>
            <p:cNvSpPr txBox="1"/>
            <p:nvPr/>
          </p:nvSpPr>
          <p:spPr>
            <a:xfrm>
              <a:off x="3357675" y="7509872"/>
              <a:ext cx="7349924" cy="157479"/>
            </a:xfrm>
            <a:prstGeom prst="rect">
              <a:avLst/>
            </a:prstGeom>
            <a:noFill/>
          </p:spPr>
          <p:txBody>
            <a:bodyPr wrap="square">
              <a:spAutoFit/>
            </a:bodyPr>
            <a:lstStyle/>
            <a:p>
              <a:pPr algn="ctr">
                <a:lnSpc>
                  <a:spcPct val="10000"/>
                </a:lnSpc>
                <a:defRPr sz="3400"/>
              </a:pPr>
              <a:r>
                <a:rPr lang="en-IN" sz="1600" dirty="0" err="1">
                  <a:latin typeface="Helvetica Neue"/>
                </a:rPr>
                <a:t>Email:</a:t>
              </a:r>
              <a:r>
                <a:rPr lang="en-IN" sz="1600" u="sng" dirty="0" err="1">
                  <a:latin typeface="Helvetica Neue"/>
                  <a:hlinkClick r:id="" action="ppaction://hlinkshowjump?jump=nextslide">
                    <a:extLst>
                      <a:ext uri="{A12FA001-AC4F-418D-AE19-62706E023703}">
                        <ahyp:hlinkClr xmlns:ahyp="http://schemas.microsoft.com/office/drawing/2018/hyperlinkcolor" val="tx"/>
                      </a:ext>
                    </a:extLst>
                  </a:hlinkClick>
                </a:rPr>
                <a:t>contactus@rit.edu.in</a:t>
              </a:r>
              <a:r>
                <a:rPr lang="en-IN" sz="1600" dirty="0">
                  <a:latin typeface="Helvetica Neue"/>
                </a:rPr>
                <a:t>, </a:t>
              </a:r>
              <a:r>
                <a:rPr lang="en-IN" sz="1600" dirty="0" err="1">
                  <a:latin typeface="Helvetica Neue"/>
                </a:rPr>
                <a:t>Website:www.rit.edu.in</a:t>
              </a:r>
              <a:endParaRPr lang="en-IN" sz="1600" dirty="0">
                <a:latin typeface="Helvetica Neue"/>
              </a:endParaRPr>
            </a:p>
          </p:txBody>
        </p:sp>
      </p:grpSp>
      <p:sp>
        <p:nvSpPr>
          <p:cNvPr id="16" name="TextBox 15">
            <a:extLst>
              <a:ext uri="{FF2B5EF4-FFF2-40B4-BE49-F238E27FC236}">
                <a16:creationId xmlns:a16="http://schemas.microsoft.com/office/drawing/2014/main" id="{C300943C-FCA2-A425-FA22-75CDF250B7E8}"/>
              </a:ext>
            </a:extLst>
          </p:cNvPr>
          <p:cNvSpPr txBox="1"/>
          <p:nvPr/>
        </p:nvSpPr>
        <p:spPr>
          <a:xfrm>
            <a:off x="2757007" y="3674235"/>
            <a:ext cx="3852050" cy="416011"/>
          </a:xfrm>
          <a:prstGeom prst="rect">
            <a:avLst/>
          </a:prstGeom>
          <a:noFill/>
        </p:spPr>
        <p:txBody>
          <a:bodyPr wrap="square">
            <a:spAutoFit/>
          </a:bodyPr>
          <a:lstStyle/>
          <a:p>
            <a:pPr algn="ctr">
              <a:lnSpc>
                <a:spcPct val="30000"/>
              </a:lnSpc>
              <a:defRPr sz="2500"/>
            </a:pPr>
            <a:r>
              <a:rPr lang="en-IN" sz="1600" b="1" dirty="0">
                <a:latin typeface="Helvetica Neue"/>
              </a:rPr>
              <a:t>Haris Rahman (301202223027)</a:t>
            </a:r>
          </a:p>
          <a:p>
            <a:pPr algn="ctr">
              <a:lnSpc>
                <a:spcPct val="30000"/>
              </a:lnSpc>
              <a:defRPr sz="2500"/>
            </a:pPr>
            <a:endParaRPr lang="en-IN" sz="1600" b="1" dirty="0">
              <a:latin typeface="Helvetica Neue"/>
            </a:endParaRPr>
          </a:p>
          <a:p>
            <a:pPr algn="ctr">
              <a:lnSpc>
                <a:spcPct val="30000"/>
              </a:lnSpc>
              <a:defRPr sz="2500"/>
            </a:pPr>
            <a:endParaRPr lang="en-IN" sz="1600" b="1" dirty="0">
              <a:latin typeface="Helvetica Neue"/>
            </a:endParaRPr>
          </a:p>
          <a:p>
            <a:pPr algn="ctr">
              <a:lnSpc>
                <a:spcPct val="30000"/>
              </a:lnSpc>
              <a:defRPr sz="2500"/>
            </a:pPr>
            <a:endParaRPr lang="en-IN" sz="1600" b="1" dirty="0">
              <a:latin typeface="Helvetica Neue"/>
            </a:endParaRPr>
          </a:p>
        </p:txBody>
      </p:sp>
      <p:cxnSp>
        <p:nvCxnSpPr>
          <p:cNvPr id="17" name="Straight Connector 16">
            <a:extLst>
              <a:ext uri="{FF2B5EF4-FFF2-40B4-BE49-F238E27FC236}">
                <a16:creationId xmlns:a16="http://schemas.microsoft.com/office/drawing/2014/main" id="{682B5CF1-FEB5-0829-B68C-CCD526709B08}"/>
              </a:ext>
            </a:extLst>
          </p:cNvPr>
          <p:cNvCxnSpPr>
            <a:cxnSpLocks/>
          </p:cNvCxnSpPr>
          <p:nvPr/>
        </p:nvCxnSpPr>
        <p:spPr>
          <a:xfrm>
            <a:off x="1337162" y="3221499"/>
            <a:ext cx="6535064" cy="0"/>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a:extLst>
              <a:ext uri="{FF2B5EF4-FFF2-40B4-BE49-F238E27FC236}">
                <a16:creationId xmlns:a16="http://schemas.microsoft.com/office/drawing/2014/main" id="{085F5755-60F9-21DE-4A58-7C0488C11AC2}"/>
              </a:ext>
            </a:extLst>
          </p:cNvPr>
          <p:cNvCxnSpPr>
            <a:cxnSpLocks/>
          </p:cNvCxnSpPr>
          <p:nvPr/>
        </p:nvCxnSpPr>
        <p:spPr>
          <a:xfrm>
            <a:off x="1355807" y="3948365"/>
            <a:ext cx="6535064"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70041871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8" y="990943"/>
            <a:ext cx="8151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Project Overview — MediPredict AI</a:t>
            </a:r>
            <a:endParaRPr lang="en-US" sz="2900" dirty="0"/>
          </a:p>
        </p:txBody>
      </p:sp>
      <p:sp>
        <p:nvSpPr>
          <p:cNvPr id="4" name="Text 1"/>
          <p:cNvSpPr/>
          <p:nvPr/>
        </p:nvSpPr>
        <p:spPr>
          <a:xfrm>
            <a:off x="1427038" y="1717030"/>
            <a:ext cx="1668214"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Problem statement</a:t>
            </a:r>
            <a:endParaRPr lang="en-US" sz="1450" dirty="0"/>
          </a:p>
        </p:txBody>
      </p:sp>
      <p:sp>
        <p:nvSpPr>
          <p:cNvPr id="5" name="Text 2"/>
          <p:cNvSpPr/>
          <p:nvPr/>
        </p:nvSpPr>
        <p:spPr>
          <a:xfrm>
            <a:off x="1427038" y="2034629"/>
            <a:ext cx="1668214"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Late or missed diagnosis across multiple diseases due to fragmented data and limited screening in low-resource settings.</a:t>
            </a:r>
            <a:endParaRPr lang="en-US" sz="1100" dirty="0"/>
          </a:p>
        </p:txBody>
      </p:sp>
      <p:sp>
        <p:nvSpPr>
          <p:cNvPr id="7" name="Text 3"/>
          <p:cNvSpPr/>
          <p:nvPr/>
        </p:nvSpPr>
        <p:spPr>
          <a:xfrm>
            <a:off x="4203353" y="1717030"/>
            <a:ext cx="1668214"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Objectives</a:t>
            </a:r>
            <a:endParaRPr lang="en-US" sz="1450" dirty="0"/>
          </a:p>
        </p:txBody>
      </p:sp>
      <p:sp>
        <p:nvSpPr>
          <p:cNvPr id="8" name="Text 4"/>
          <p:cNvSpPr/>
          <p:nvPr/>
        </p:nvSpPr>
        <p:spPr>
          <a:xfrm>
            <a:off x="4203353" y="2034629"/>
            <a:ext cx="1668214" cy="214044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Build an integrated web tool for multi-disease prediction</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Deliver accurate, fast predictions with clear recommendations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Ensure secure, accessible patient-facing interface</a:t>
            </a:r>
            <a:endParaRPr lang="en-US" sz="1100" dirty="0"/>
          </a:p>
        </p:txBody>
      </p:sp>
      <p:sp>
        <p:nvSpPr>
          <p:cNvPr id="10" name="Text 5"/>
          <p:cNvSpPr/>
          <p:nvPr/>
        </p:nvSpPr>
        <p:spPr>
          <a:xfrm>
            <a:off x="6979667" y="1717030"/>
            <a:ext cx="1668214" cy="465088"/>
          </a:xfrm>
          <a:prstGeom prst="rect">
            <a:avLst/>
          </a:prstGeom>
          <a:noFill/>
          <a:ln/>
        </p:spPr>
        <p:txBody>
          <a:bodyPr wrap="square" lIns="0" tIns="0" rIns="0" bIns="0" rtlCol="0" anchor="t">
            <a:normAutofit/>
          </a:bodyPr>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Need &amp; Expected benefits</a:t>
            </a:r>
            <a:endParaRPr lang="en-US" sz="1450" dirty="0"/>
          </a:p>
        </p:txBody>
      </p:sp>
      <p:sp>
        <p:nvSpPr>
          <p:cNvPr id="11" name="Text 6"/>
          <p:cNvSpPr/>
          <p:nvPr/>
        </p:nvSpPr>
        <p:spPr>
          <a:xfrm>
            <a:off x="6979667" y="2267173"/>
            <a:ext cx="1668214" cy="1686818"/>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Early detection improves outcomes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Reduce clinician workload, speed triage</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Support rural and telehealth screening</a:t>
            </a:r>
            <a:endParaRPr lang="en-US" sz="1100" dirty="0"/>
          </a:p>
        </p:txBody>
      </p:sp>
      <p:pic>
        <p:nvPicPr>
          <p:cNvPr id="13" name="Picture 12">
            <a:extLst>
              <a:ext uri="{FF2B5EF4-FFF2-40B4-BE49-F238E27FC236}">
                <a16:creationId xmlns:a16="http://schemas.microsoft.com/office/drawing/2014/main" id="{AC6452EC-B779-0252-3EF0-BA42CEB45590}"/>
              </a:ext>
            </a:extLst>
          </p:cNvPr>
          <p:cNvPicPr>
            <a:picLocks noChangeAspect="1"/>
          </p:cNvPicPr>
          <p:nvPr/>
        </p:nvPicPr>
        <p:blipFill>
          <a:blip r:embed="rId3"/>
          <a:stretch>
            <a:fillRect/>
          </a:stretch>
        </p:blipFill>
        <p:spPr>
          <a:xfrm>
            <a:off x="711108" y="1601010"/>
            <a:ext cx="715930" cy="697128"/>
          </a:xfrm>
          <a:prstGeom prst="rect">
            <a:avLst/>
          </a:prstGeom>
        </p:spPr>
      </p:pic>
      <p:pic>
        <p:nvPicPr>
          <p:cNvPr id="15" name="Picture 14">
            <a:extLst>
              <a:ext uri="{FF2B5EF4-FFF2-40B4-BE49-F238E27FC236}">
                <a16:creationId xmlns:a16="http://schemas.microsoft.com/office/drawing/2014/main" id="{78CD45A8-4ECC-38F5-FCE8-F5FB9D8DDBFC}"/>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3339063" y="1466924"/>
            <a:ext cx="864290" cy="858619"/>
          </a:xfrm>
          <a:prstGeom prst="rect">
            <a:avLst/>
          </a:prstGeom>
        </p:spPr>
      </p:pic>
      <p:pic>
        <p:nvPicPr>
          <p:cNvPr id="17" name="Picture 16">
            <a:extLst>
              <a:ext uri="{FF2B5EF4-FFF2-40B4-BE49-F238E27FC236}">
                <a16:creationId xmlns:a16="http://schemas.microsoft.com/office/drawing/2014/main" id="{E417ECAA-99AB-56E6-438D-5450D3D5D321}"/>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6415746" y="1702139"/>
            <a:ext cx="502991" cy="4948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2371864" y="575039"/>
            <a:ext cx="8151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Existing System vs Proposed System</a:t>
            </a:r>
            <a:endParaRPr lang="en-US" sz="2900" dirty="0"/>
          </a:p>
        </p:txBody>
      </p:sp>
      <p:sp>
        <p:nvSpPr>
          <p:cNvPr id="3" name="Text 1"/>
          <p:cNvSpPr/>
          <p:nvPr/>
        </p:nvSpPr>
        <p:spPr>
          <a:xfrm>
            <a:off x="496119" y="1212354"/>
            <a:ext cx="3902943"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Petrona Bold" pitchFamily="34" charset="0"/>
                <a:ea typeface="Petrona Bold" pitchFamily="34" charset="-122"/>
                <a:cs typeface="Petrona Bold" pitchFamily="34" charset="-120"/>
              </a:rPr>
              <a:t>Limitations of traditional diagnosis</a:t>
            </a:r>
            <a:endParaRPr lang="en-US" sz="1450" dirty="0"/>
          </a:p>
        </p:txBody>
      </p:sp>
      <p:sp>
        <p:nvSpPr>
          <p:cNvPr id="4" name="Text 2"/>
          <p:cNvSpPr/>
          <p:nvPr/>
        </p:nvSpPr>
        <p:spPr>
          <a:xfrm>
            <a:off x="496119" y="1586657"/>
            <a:ext cx="390294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Manual review causes delays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Inconsistent interpretation across clinicians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Poor access in rural clinics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No unified multi-disease screening</a:t>
            </a:r>
            <a:endParaRPr lang="en-US" sz="1100" dirty="0"/>
          </a:p>
        </p:txBody>
      </p:sp>
      <p:sp>
        <p:nvSpPr>
          <p:cNvPr id="5" name="Text 3"/>
          <p:cNvSpPr/>
          <p:nvPr/>
        </p:nvSpPr>
        <p:spPr>
          <a:xfrm>
            <a:off x="4749701" y="1212354"/>
            <a:ext cx="3902943" cy="232544"/>
          </a:xfrm>
          <a:prstGeom prst="rect">
            <a:avLst/>
          </a:prstGeom>
          <a:noFill/>
          <a:ln/>
        </p:spPr>
        <p:txBody>
          <a:bodyPr wrap="none" lIns="0" tIns="0" rIns="0" bIns="0" rtlCol="0" anchor="t"/>
          <a:lstStyle/>
          <a:p>
            <a:pPr marL="0" indent="0" algn="l">
              <a:lnSpc>
                <a:spcPct val="104000"/>
              </a:lnSpc>
              <a:buNone/>
            </a:pPr>
            <a:r>
              <a:rPr lang="en-US" sz="1450" b="1" dirty="0">
                <a:solidFill>
                  <a:srgbClr val="000000"/>
                </a:solidFill>
                <a:latin typeface="Petrona Bold" pitchFamily="34" charset="0"/>
                <a:ea typeface="Petrona Bold" pitchFamily="34" charset="-122"/>
                <a:cs typeface="Petrona Bold" pitchFamily="34" charset="-120"/>
              </a:rPr>
              <a:t>Advantages of MediPredict AI</a:t>
            </a:r>
            <a:endParaRPr lang="en-US" sz="1450" dirty="0"/>
          </a:p>
        </p:txBody>
      </p:sp>
      <p:sp>
        <p:nvSpPr>
          <p:cNvPr id="6" name="Text 4"/>
          <p:cNvSpPr/>
          <p:nvPr/>
        </p:nvSpPr>
        <p:spPr>
          <a:xfrm>
            <a:off x="4749701" y="1586657"/>
            <a:ext cx="3902943" cy="105593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Automated, repeatable predictions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Multi-disease support (heart + kidney)</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Web interface for clinicians &amp; patients</a:t>
            </a:r>
            <a:endParaRPr lang="en-US" sz="1100" dirty="0"/>
          </a:p>
          <a:p>
            <a:pPr marL="223520" indent="-223520" algn="l">
              <a:lnSpc>
                <a:spcPct val="133000"/>
              </a:lnSpc>
              <a:buSzPct val="100000"/>
              <a:buChar char="•"/>
            </a:pPr>
            <a:r>
              <a:rPr lang="en-US" sz="1100" dirty="0">
                <a:solidFill>
                  <a:srgbClr val="272525"/>
                </a:solidFill>
                <a:latin typeface="Inter" pitchFamily="34" charset="0"/>
                <a:ea typeface="Inter" pitchFamily="34" charset="-122"/>
                <a:cs typeface="Inter" pitchFamily="34" charset="-120"/>
              </a:rPr>
              <a:t>Fast inference, exportable reports</a:t>
            </a:r>
            <a:endParaRPr lang="en-US" sz="1100" dirty="0"/>
          </a:p>
        </p:txBody>
      </p:sp>
      <p:sp>
        <p:nvSpPr>
          <p:cNvPr id="7" name="Shape 5"/>
          <p:cNvSpPr/>
          <p:nvPr/>
        </p:nvSpPr>
        <p:spPr>
          <a:xfrm>
            <a:off x="496119" y="2887042"/>
            <a:ext cx="8151763" cy="19050"/>
          </a:xfrm>
          <a:prstGeom prst="roundRect">
            <a:avLst>
              <a:gd name="adj" fmla="val 60000"/>
            </a:avLst>
          </a:prstGeom>
          <a:solidFill>
            <a:srgbClr val="272525">
              <a:alpha val="50000"/>
            </a:srgbClr>
          </a:solidFill>
          <a:ln/>
        </p:spPr>
      </p:sp>
      <p:sp>
        <p:nvSpPr>
          <p:cNvPr id="8" name="Shape 6"/>
          <p:cNvSpPr/>
          <p:nvPr/>
        </p:nvSpPr>
        <p:spPr>
          <a:xfrm>
            <a:off x="496119" y="3100983"/>
            <a:ext cx="8151763" cy="1649611"/>
          </a:xfrm>
          <a:prstGeom prst="roundRect">
            <a:avLst>
              <a:gd name="adj" fmla="val 3609"/>
            </a:avLst>
          </a:prstGeom>
          <a:noFill/>
          <a:ln w="4763">
            <a:solidFill>
              <a:srgbClr val="000000">
                <a:alpha val="8000"/>
              </a:srgbClr>
            </a:solidFill>
            <a:prstDash val="solid"/>
          </a:ln>
        </p:spPr>
      </p:sp>
      <p:sp>
        <p:nvSpPr>
          <p:cNvPr id="9" name="Shape 7"/>
          <p:cNvSpPr/>
          <p:nvPr/>
        </p:nvSpPr>
        <p:spPr>
          <a:xfrm>
            <a:off x="496119" y="3514576"/>
            <a:ext cx="8151763" cy="8860"/>
          </a:xfrm>
          <a:prstGeom prst="rect">
            <a:avLst/>
          </a:prstGeom>
          <a:solidFill>
            <a:srgbClr val="000000">
              <a:alpha val="8000"/>
            </a:srgbClr>
          </a:solidFill>
          <a:ln/>
        </p:spPr>
      </p:sp>
      <p:sp>
        <p:nvSpPr>
          <p:cNvPr id="10" name="Shape 8"/>
          <p:cNvSpPr/>
          <p:nvPr/>
        </p:nvSpPr>
        <p:spPr>
          <a:xfrm>
            <a:off x="496119" y="3925788"/>
            <a:ext cx="8151763" cy="8860"/>
          </a:xfrm>
          <a:prstGeom prst="rect">
            <a:avLst/>
          </a:prstGeom>
          <a:solidFill>
            <a:srgbClr val="000000">
              <a:alpha val="8000"/>
            </a:srgbClr>
          </a:solidFill>
          <a:ln/>
        </p:spPr>
      </p:sp>
      <p:sp>
        <p:nvSpPr>
          <p:cNvPr id="11" name="Shape 9"/>
          <p:cNvSpPr/>
          <p:nvPr/>
        </p:nvSpPr>
        <p:spPr>
          <a:xfrm>
            <a:off x="496119" y="4337000"/>
            <a:ext cx="8151763" cy="8860"/>
          </a:xfrm>
          <a:prstGeom prst="rect">
            <a:avLst/>
          </a:prstGeom>
          <a:solidFill>
            <a:srgbClr val="000000">
              <a:alpha val="8000"/>
            </a:srgbClr>
          </a:solidFill>
          <a:ln/>
        </p:spPr>
      </p:sp>
      <p:sp>
        <p:nvSpPr>
          <p:cNvPr id="12" name="Shape 10"/>
          <p:cNvSpPr/>
          <p:nvPr/>
        </p:nvSpPr>
        <p:spPr>
          <a:xfrm>
            <a:off x="500955" y="3105745"/>
            <a:ext cx="2849761" cy="408831"/>
          </a:xfrm>
          <a:prstGeom prst="rect">
            <a:avLst/>
          </a:prstGeom>
          <a:solidFill>
            <a:srgbClr val="007EBD"/>
          </a:solidFill>
          <a:ln/>
        </p:spPr>
      </p:sp>
      <p:sp>
        <p:nvSpPr>
          <p:cNvPr id="13" name="Text 11"/>
          <p:cNvSpPr/>
          <p:nvPr/>
        </p:nvSpPr>
        <p:spPr>
          <a:xfrm>
            <a:off x="642714" y="3195563"/>
            <a:ext cx="3023443"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Inter Bold" pitchFamily="34" charset="0"/>
                <a:ea typeface="Inter Bold" pitchFamily="34" charset="-122"/>
                <a:cs typeface="Inter Bold" pitchFamily="34" charset="-120"/>
              </a:rPr>
              <a:t>Aspect</a:t>
            </a:r>
            <a:endParaRPr lang="en-US" sz="1100" dirty="0"/>
          </a:p>
        </p:txBody>
      </p:sp>
      <p:sp>
        <p:nvSpPr>
          <p:cNvPr id="14" name="Shape 12"/>
          <p:cNvSpPr/>
          <p:nvPr/>
        </p:nvSpPr>
        <p:spPr>
          <a:xfrm>
            <a:off x="3350716" y="3105745"/>
            <a:ext cx="2849761" cy="408831"/>
          </a:xfrm>
          <a:prstGeom prst="rect">
            <a:avLst/>
          </a:prstGeom>
          <a:solidFill>
            <a:srgbClr val="007EBD"/>
          </a:solidFill>
          <a:ln/>
        </p:spPr>
      </p:sp>
      <p:sp>
        <p:nvSpPr>
          <p:cNvPr id="15" name="Text 13"/>
          <p:cNvSpPr/>
          <p:nvPr/>
        </p:nvSpPr>
        <p:spPr>
          <a:xfrm>
            <a:off x="3492475" y="3195563"/>
            <a:ext cx="3023443"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Inter Bold" pitchFamily="34" charset="0"/>
                <a:ea typeface="Inter Bold" pitchFamily="34" charset="-122"/>
                <a:cs typeface="Inter Bold" pitchFamily="34" charset="-120"/>
              </a:rPr>
              <a:t>Traditional</a:t>
            </a:r>
            <a:endParaRPr lang="en-US" sz="1100" dirty="0"/>
          </a:p>
        </p:txBody>
      </p:sp>
      <p:sp>
        <p:nvSpPr>
          <p:cNvPr id="16" name="Shape 14"/>
          <p:cNvSpPr/>
          <p:nvPr/>
        </p:nvSpPr>
        <p:spPr>
          <a:xfrm>
            <a:off x="6200477" y="3105745"/>
            <a:ext cx="2442642" cy="408831"/>
          </a:xfrm>
          <a:prstGeom prst="rect">
            <a:avLst/>
          </a:prstGeom>
          <a:solidFill>
            <a:srgbClr val="007EBD"/>
          </a:solidFill>
          <a:ln/>
        </p:spPr>
      </p:sp>
      <p:sp>
        <p:nvSpPr>
          <p:cNvPr id="17" name="Text 15"/>
          <p:cNvSpPr/>
          <p:nvPr/>
        </p:nvSpPr>
        <p:spPr>
          <a:xfrm>
            <a:off x="6342236" y="3195563"/>
            <a:ext cx="2616324" cy="226814"/>
          </a:xfrm>
          <a:prstGeom prst="rect">
            <a:avLst/>
          </a:prstGeom>
          <a:noFill/>
          <a:ln/>
        </p:spPr>
        <p:txBody>
          <a:bodyPr wrap="none" lIns="0" tIns="0" rIns="0" bIns="0" rtlCol="0" anchor="t"/>
          <a:lstStyle/>
          <a:p>
            <a:pPr marL="0" indent="0" algn="l">
              <a:lnSpc>
                <a:spcPct val="133000"/>
              </a:lnSpc>
              <a:buNone/>
            </a:pPr>
            <a:r>
              <a:rPr lang="en-US" sz="1100" b="1" dirty="0">
                <a:solidFill>
                  <a:srgbClr val="000000"/>
                </a:solidFill>
                <a:latin typeface="Inter Bold" pitchFamily="34" charset="0"/>
                <a:ea typeface="Inter Bold" pitchFamily="34" charset="-122"/>
                <a:cs typeface="Inter Bold" pitchFamily="34" charset="-120"/>
              </a:rPr>
              <a:t>MediPredict AI</a:t>
            </a:r>
            <a:endParaRPr lang="en-US" sz="1100" dirty="0"/>
          </a:p>
        </p:txBody>
      </p:sp>
      <p:sp>
        <p:nvSpPr>
          <p:cNvPr id="18" name="Text 16"/>
          <p:cNvSpPr/>
          <p:nvPr/>
        </p:nvSpPr>
        <p:spPr>
          <a:xfrm>
            <a:off x="642714" y="3606775"/>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Speed</a:t>
            </a:r>
            <a:endParaRPr lang="en-US" sz="1100" dirty="0"/>
          </a:p>
        </p:txBody>
      </p:sp>
      <p:sp>
        <p:nvSpPr>
          <p:cNvPr id="19" name="Text 17"/>
          <p:cNvSpPr/>
          <p:nvPr/>
        </p:nvSpPr>
        <p:spPr>
          <a:xfrm>
            <a:off x="3492475" y="3606775"/>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Slow (manual)</a:t>
            </a:r>
            <a:endParaRPr lang="en-US" sz="1100" dirty="0"/>
          </a:p>
        </p:txBody>
      </p:sp>
      <p:sp>
        <p:nvSpPr>
          <p:cNvPr id="20" name="Text 18"/>
          <p:cNvSpPr/>
          <p:nvPr/>
        </p:nvSpPr>
        <p:spPr>
          <a:xfrm>
            <a:off x="6342236" y="3606775"/>
            <a:ext cx="2616324"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Fast (seconds)</a:t>
            </a:r>
            <a:endParaRPr lang="en-US" sz="1100" dirty="0"/>
          </a:p>
        </p:txBody>
      </p:sp>
      <p:sp>
        <p:nvSpPr>
          <p:cNvPr id="21" name="Text 19"/>
          <p:cNvSpPr/>
          <p:nvPr/>
        </p:nvSpPr>
        <p:spPr>
          <a:xfrm>
            <a:off x="642714" y="4017987"/>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Consistency</a:t>
            </a:r>
            <a:endParaRPr lang="en-US" sz="1100" dirty="0"/>
          </a:p>
        </p:txBody>
      </p:sp>
      <p:sp>
        <p:nvSpPr>
          <p:cNvPr id="22" name="Text 20"/>
          <p:cNvSpPr/>
          <p:nvPr/>
        </p:nvSpPr>
        <p:spPr>
          <a:xfrm>
            <a:off x="3492475" y="4017987"/>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Variable</a:t>
            </a:r>
            <a:endParaRPr lang="en-US" sz="1100" dirty="0"/>
          </a:p>
        </p:txBody>
      </p:sp>
      <p:sp>
        <p:nvSpPr>
          <p:cNvPr id="23" name="Text 21"/>
          <p:cNvSpPr/>
          <p:nvPr/>
        </p:nvSpPr>
        <p:spPr>
          <a:xfrm>
            <a:off x="6342236" y="4017987"/>
            <a:ext cx="2616324"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High (model-driven)</a:t>
            </a:r>
            <a:endParaRPr lang="en-US" sz="1100" dirty="0"/>
          </a:p>
        </p:txBody>
      </p:sp>
      <p:sp>
        <p:nvSpPr>
          <p:cNvPr id="24" name="Text 22"/>
          <p:cNvSpPr/>
          <p:nvPr/>
        </p:nvSpPr>
        <p:spPr>
          <a:xfrm>
            <a:off x="642714" y="4429199"/>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Scope</a:t>
            </a:r>
            <a:endParaRPr lang="en-US" sz="1100" dirty="0"/>
          </a:p>
        </p:txBody>
      </p:sp>
      <p:sp>
        <p:nvSpPr>
          <p:cNvPr id="25" name="Text 23"/>
          <p:cNvSpPr/>
          <p:nvPr/>
        </p:nvSpPr>
        <p:spPr>
          <a:xfrm>
            <a:off x="3492475" y="4429199"/>
            <a:ext cx="30234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Single-disease focus</a:t>
            </a:r>
            <a:endParaRPr lang="en-US" sz="1100" dirty="0"/>
          </a:p>
        </p:txBody>
      </p:sp>
      <p:sp>
        <p:nvSpPr>
          <p:cNvPr id="26" name="Text 24"/>
          <p:cNvSpPr/>
          <p:nvPr/>
        </p:nvSpPr>
        <p:spPr>
          <a:xfrm>
            <a:off x="6342236" y="4429199"/>
            <a:ext cx="2616324"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Multi-disease</a:t>
            </a:r>
            <a:endParaRPr lang="en-US" sz="11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042187"/>
            <a:ext cx="8151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Technologies Used</a:t>
            </a:r>
            <a:endParaRPr lang="en-US" sz="2900" dirty="0"/>
          </a:p>
        </p:txBody>
      </p:sp>
      <p:sp>
        <p:nvSpPr>
          <p:cNvPr id="4" name="Text 1"/>
          <p:cNvSpPr/>
          <p:nvPr/>
        </p:nvSpPr>
        <p:spPr>
          <a:xfrm>
            <a:off x="1027658" y="1659965"/>
            <a:ext cx="3455715"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Python</a:t>
            </a:r>
            <a:endParaRPr lang="en-US" sz="1450" dirty="0"/>
          </a:p>
        </p:txBody>
      </p:sp>
      <p:sp>
        <p:nvSpPr>
          <p:cNvPr id="5" name="Text 2"/>
          <p:cNvSpPr/>
          <p:nvPr/>
        </p:nvSpPr>
        <p:spPr>
          <a:xfrm>
            <a:off x="1027658" y="2080141"/>
            <a:ext cx="3392633" cy="864692"/>
          </a:xfrm>
          <a:prstGeom prst="rect">
            <a:avLst/>
          </a:prstGeom>
          <a:noFill/>
          <a:ln/>
        </p:spPr>
        <p:txBody>
          <a:bodyPr wrap="none" lIns="0" tIns="0" rIns="0" bIns="0" rtlCol="0" anchor="t"/>
          <a:lstStyle/>
          <a:p>
            <a:pPr>
              <a:lnSpc>
                <a:spcPct val="133000"/>
              </a:lnSpc>
            </a:pPr>
            <a:endParaRPr lang="en-US" sz="600" dirty="0"/>
          </a:p>
        </p:txBody>
      </p:sp>
      <p:sp>
        <p:nvSpPr>
          <p:cNvPr id="7" name="Text 3"/>
          <p:cNvSpPr/>
          <p:nvPr/>
        </p:nvSpPr>
        <p:spPr>
          <a:xfrm>
            <a:off x="5192092" y="1675205"/>
            <a:ext cx="3455789"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Flask</a:t>
            </a:r>
            <a:endParaRPr lang="en-US" sz="1450" dirty="0"/>
          </a:p>
        </p:txBody>
      </p:sp>
      <p:sp>
        <p:nvSpPr>
          <p:cNvPr id="8" name="Text 4"/>
          <p:cNvSpPr/>
          <p:nvPr/>
        </p:nvSpPr>
        <p:spPr>
          <a:xfrm>
            <a:off x="5192092" y="2080141"/>
            <a:ext cx="3455789" cy="226814"/>
          </a:xfrm>
          <a:prstGeom prst="rect">
            <a:avLst/>
          </a:prstGeom>
          <a:noFill/>
          <a:ln/>
        </p:spPr>
        <p:txBody>
          <a:bodyPr wrap="none" lIns="0" tIns="0" rIns="0" bIns="0" rtlCol="0" anchor="t"/>
          <a:lstStyle/>
          <a:p>
            <a:pPr marL="0" indent="0" algn="l">
              <a:lnSpc>
                <a:spcPct val="133000"/>
              </a:lnSpc>
              <a:buNone/>
            </a:pPr>
            <a:endParaRPr lang="en-US" sz="8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590473"/>
            <a:ext cx="354360" cy="354360"/>
          </a:xfrm>
          <a:prstGeom prst="rect">
            <a:avLst/>
          </a:prstGeom>
        </p:spPr>
      </p:pic>
      <p:sp>
        <p:nvSpPr>
          <p:cNvPr id="10" name="Text 5"/>
          <p:cNvSpPr/>
          <p:nvPr/>
        </p:nvSpPr>
        <p:spPr>
          <a:xfrm>
            <a:off x="1027658" y="2590473"/>
            <a:ext cx="3455715"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HTML / CSS / JavaScript</a:t>
            </a:r>
            <a:endParaRPr lang="en-US" sz="1450" dirty="0"/>
          </a:p>
        </p:txBody>
      </p:sp>
      <p:sp>
        <p:nvSpPr>
          <p:cNvPr id="11" name="Text 6"/>
          <p:cNvSpPr/>
          <p:nvPr/>
        </p:nvSpPr>
        <p:spPr>
          <a:xfrm>
            <a:off x="1027658" y="2908072"/>
            <a:ext cx="3455715"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13" name="Text 7"/>
          <p:cNvSpPr/>
          <p:nvPr/>
        </p:nvSpPr>
        <p:spPr>
          <a:xfrm>
            <a:off x="5192092" y="2567613"/>
            <a:ext cx="3455789"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Scikit-learn</a:t>
            </a:r>
            <a:endParaRPr lang="en-US" sz="1450" dirty="0"/>
          </a:p>
        </p:txBody>
      </p:sp>
      <p:sp>
        <p:nvSpPr>
          <p:cNvPr id="16" name="Text 9"/>
          <p:cNvSpPr/>
          <p:nvPr/>
        </p:nvSpPr>
        <p:spPr>
          <a:xfrm>
            <a:off x="1027658" y="3418404"/>
            <a:ext cx="3455715"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Pandas &amp; NumPy</a:t>
            </a:r>
            <a:endParaRPr lang="en-US" sz="1450" dirty="0"/>
          </a:p>
        </p:txBody>
      </p:sp>
      <p:sp>
        <p:nvSpPr>
          <p:cNvPr id="17" name="Text 10"/>
          <p:cNvSpPr/>
          <p:nvPr/>
        </p:nvSpPr>
        <p:spPr>
          <a:xfrm>
            <a:off x="1027658" y="3736003"/>
            <a:ext cx="3455715"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19" name="Text 11"/>
          <p:cNvSpPr/>
          <p:nvPr/>
        </p:nvSpPr>
        <p:spPr>
          <a:xfrm>
            <a:off x="5192092" y="3418404"/>
            <a:ext cx="3455789"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Joblib</a:t>
            </a:r>
            <a:endParaRPr lang="en-US" sz="1450" dirty="0"/>
          </a:p>
        </p:txBody>
      </p:sp>
      <p:sp>
        <p:nvSpPr>
          <p:cNvPr id="20" name="Text 12"/>
          <p:cNvSpPr/>
          <p:nvPr/>
        </p:nvSpPr>
        <p:spPr>
          <a:xfrm>
            <a:off x="5192092" y="3736003"/>
            <a:ext cx="3455789"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22" name="Text 13"/>
          <p:cNvSpPr/>
          <p:nvPr/>
        </p:nvSpPr>
        <p:spPr>
          <a:xfrm>
            <a:off x="1027658" y="4307294"/>
            <a:ext cx="3455715" cy="232544"/>
          </a:xfrm>
          <a:prstGeom prst="rect">
            <a:avLst/>
          </a:prstGeom>
          <a:noFill/>
          <a:ln/>
        </p:spPr>
        <p:txBody>
          <a:bodyPr wrap="none" lIns="0" tIns="0" rIns="0" bIns="0" rtlCol="0" anchor="t"/>
          <a:lstStyle/>
          <a:p>
            <a:pPr marL="0" indent="0" algn="l">
              <a:lnSpc>
                <a:spcPct val="104000"/>
              </a:lnSpc>
              <a:buNone/>
            </a:pPr>
            <a:r>
              <a:rPr lang="en-US" sz="1450" b="1">
                <a:solidFill>
                  <a:srgbClr val="272525"/>
                </a:solidFill>
                <a:latin typeface="Petrona Bold" pitchFamily="34" charset="0"/>
                <a:ea typeface="Petrona Bold" pitchFamily="34" charset="-122"/>
                <a:cs typeface="Petrona Bold" pitchFamily="34" charset="-120"/>
              </a:rPr>
              <a:t>VS Code</a:t>
            </a:r>
            <a:endParaRPr lang="en-US" sz="1450" dirty="0"/>
          </a:p>
        </p:txBody>
      </p:sp>
      <p:sp>
        <p:nvSpPr>
          <p:cNvPr id="23" name="Text 14"/>
          <p:cNvSpPr/>
          <p:nvPr/>
        </p:nvSpPr>
        <p:spPr>
          <a:xfrm>
            <a:off x="1027658" y="4563934"/>
            <a:ext cx="3455715"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25" name="Text 15"/>
          <p:cNvSpPr/>
          <p:nvPr/>
        </p:nvSpPr>
        <p:spPr>
          <a:xfrm>
            <a:off x="5192092" y="4185374"/>
            <a:ext cx="3455789"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Git &amp; GitHub</a:t>
            </a:r>
            <a:endParaRPr lang="en-US" sz="1450" dirty="0"/>
          </a:p>
        </p:txBody>
      </p:sp>
      <p:sp>
        <p:nvSpPr>
          <p:cNvPr id="26" name="Text 16"/>
          <p:cNvSpPr/>
          <p:nvPr/>
        </p:nvSpPr>
        <p:spPr>
          <a:xfrm>
            <a:off x="5192092" y="4563934"/>
            <a:ext cx="3455789" cy="226814"/>
          </a:xfrm>
          <a:prstGeom prst="rect">
            <a:avLst/>
          </a:prstGeom>
          <a:noFill/>
          <a:ln/>
        </p:spPr>
        <p:txBody>
          <a:bodyPr wrap="none" lIns="0" tIns="0" rIns="0" bIns="0" rtlCol="0" anchor="t"/>
          <a:lstStyle/>
          <a:p>
            <a:pPr marL="0" indent="0" algn="l">
              <a:lnSpc>
                <a:spcPct val="133000"/>
              </a:lnSpc>
              <a:buNone/>
            </a:pPr>
            <a:endParaRPr lang="en-US" sz="1100" dirty="0"/>
          </a:p>
        </p:txBody>
      </p:sp>
      <p:pic>
        <p:nvPicPr>
          <p:cNvPr id="28" name="Picture 27">
            <a:extLst>
              <a:ext uri="{FF2B5EF4-FFF2-40B4-BE49-F238E27FC236}">
                <a16:creationId xmlns:a16="http://schemas.microsoft.com/office/drawing/2014/main" id="{86F77B37-01D3-155E-3735-0F5FFF0E81DC}"/>
              </a:ext>
            </a:extLst>
          </p:cNvPr>
          <p:cNvPicPr>
            <a:picLocks noChangeAspect="1"/>
          </p:cNvPicPr>
          <p:nvPr/>
        </p:nvPicPr>
        <p:blipFill>
          <a:blip r:embed="rId4"/>
          <a:stretch>
            <a:fillRect/>
          </a:stretch>
        </p:blipFill>
        <p:spPr>
          <a:xfrm>
            <a:off x="382602" y="1606375"/>
            <a:ext cx="581393" cy="468281"/>
          </a:xfrm>
          <a:prstGeom prst="rect">
            <a:avLst/>
          </a:prstGeom>
        </p:spPr>
      </p:pic>
      <p:pic>
        <p:nvPicPr>
          <p:cNvPr id="32" name="Picture 31">
            <a:extLst>
              <a:ext uri="{FF2B5EF4-FFF2-40B4-BE49-F238E27FC236}">
                <a16:creationId xmlns:a16="http://schemas.microsoft.com/office/drawing/2014/main" id="{E611FCD7-4D5F-FCD7-4FE3-EA9279BA048D}"/>
              </a:ext>
            </a:extLst>
          </p:cNvPr>
          <p:cNvPicPr>
            <a:picLocks noChangeAspect="1"/>
          </p:cNvPicPr>
          <p:nvPr/>
        </p:nvPicPr>
        <p:blipFill>
          <a:blip r:embed="rId5"/>
          <a:stretch>
            <a:fillRect/>
          </a:stretch>
        </p:blipFill>
        <p:spPr>
          <a:xfrm flipV="1">
            <a:off x="496119" y="4292301"/>
            <a:ext cx="468282" cy="468282"/>
          </a:xfrm>
          <a:prstGeom prst="rect">
            <a:avLst/>
          </a:prstGeom>
        </p:spPr>
      </p:pic>
      <p:pic>
        <p:nvPicPr>
          <p:cNvPr id="36" name="Picture 35">
            <a:extLst>
              <a:ext uri="{FF2B5EF4-FFF2-40B4-BE49-F238E27FC236}">
                <a16:creationId xmlns:a16="http://schemas.microsoft.com/office/drawing/2014/main" id="{39B70DAD-B649-167A-3A87-15B83ACCA2DA}"/>
              </a:ext>
            </a:extLst>
          </p:cNvPr>
          <p:cNvPicPr>
            <a:picLocks noChangeAspect="1"/>
          </p:cNvPicPr>
          <p:nvPr/>
        </p:nvPicPr>
        <p:blipFill>
          <a:blip r:embed="rId6"/>
          <a:stretch>
            <a:fillRect/>
          </a:stretch>
        </p:blipFill>
        <p:spPr>
          <a:xfrm>
            <a:off x="566701" y="3382623"/>
            <a:ext cx="283777" cy="536649"/>
          </a:xfrm>
          <a:prstGeom prst="rect">
            <a:avLst/>
          </a:prstGeom>
        </p:spPr>
      </p:pic>
      <p:pic>
        <p:nvPicPr>
          <p:cNvPr id="38" name="Picture 37">
            <a:extLst>
              <a:ext uri="{FF2B5EF4-FFF2-40B4-BE49-F238E27FC236}">
                <a16:creationId xmlns:a16="http://schemas.microsoft.com/office/drawing/2014/main" id="{AC606C4B-62ED-68A5-1C5B-E714223DCDF6}"/>
              </a:ext>
            </a:extLst>
          </p:cNvPr>
          <p:cNvPicPr>
            <a:picLocks noChangeAspect="1"/>
          </p:cNvPicPr>
          <p:nvPr/>
        </p:nvPicPr>
        <p:blipFill>
          <a:blip r:embed="rId7"/>
          <a:stretch>
            <a:fillRect/>
          </a:stretch>
        </p:blipFill>
        <p:spPr>
          <a:xfrm>
            <a:off x="4723710" y="1671503"/>
            <a:ext cx="392659" cy="359937"/>
          </a:xfrm>
          <a:prstGeom prst="rect">
            <a:avLst/>
          </a:prstGeom>
        </p:spPr>
      </p:pic>
      <p:pic>
        <p:nvPicPr>
          <p:cNvPr id="40" name="Picture 39">
            <a:extLst>
              <a:ext uri="{FF2B5EF4-FFF2-40B4-BE49-F238E27FC236}">
                <a16:creationId xmlns:a16="http://schemas.microsoft.com/office/drawing/2014/main" id="{0DE3381E-2D7F-B55B-1ABE-5D504D350BC8}"/>
              </a:ext>
            </a:extLst>
          </p:cNvPr>
          <p:cNvPicPr>
            <a:picLocks noChangeAspect="1"/>
          </p:cNvPicPr>
          <p:nvPr/>
        </p:nvPicPr>
        <p:blipFill>
          <a:blip r:embed="rId8"/>
          <a:stretch>
            <a:fillRect/>
          </a:stretch>
        </p:blipFill>
        <p:spPr>
          <a:xfrm>
            <a:off x="4490369" y="2556317"/>
            <a:ext cx="679486" cy="465162"/>
          </a:xfrm>
          <a:prstGeom prst="rect">
            <a:avLst/>
          </a:prstGeom>
        </p:spPr>
      </p:pic>
      <p:pic>
        <p:nvPicPr>
          <p:cNvPr id="42" name="Picture 41">
            <a:extLst>
              <a:ext uri="{FF2B5EF4-FFF2-40B4-BE49-F238E27FC236}">
                <a16:creationId xmlns:a16="http://schemas.microsoft.com/office/drawing/2014/main" id="{C3682360-C639-240D-72FA-CDFA1DAC170A}"/>
              </a:ext>
            </a:extLst>
          </p:cNvPr>
          <p:cNvPicPr>
            <a:picLocks noChangeAspect="1"/>
          </p:cNvPicPr>
          <p:nvPr/>
        </p:nvPicPr>
        <p:blipFill>
          <a:blip r:embed="rId9"/>
          <a:stretch>
            <a:fillRect/>
          </a:stretch>
        </p:blipFill>
        <p:spPr>
          <a:xfrm>
            <a:off x="4660553" y="3404246"/>
            <a:ext cx="411593" cy="411593"/>
          </a:xfrm>
          <a:prstGeom prst="rect">
            <a:avLst/>
          </a:prstGeom>
        </p:spPr>
      </p:pic>
      <p:pic>
        <p:nvPicPr>
          <p:cNvPr id="46" name="Picture 45">
            <a:extLst>
              <a:ext uri="{FF2B5EF4-FFF2-40B4-BE49-F238E27FC236}">
                <a16:creationId xmlns:a16="http://schemas.microsoft.com/office/drawing/2014/main" id="{6C3AAC1F-D996-6B9B-3116-4DE82AEE706D}"/>
              </a:ext>
            </a:extLst>
          </p:cNvPr>
          <p:cNvPicPr>
            <a:picLocks noChangeAspect="1"/>
          </p:cNvPicPr>
          <p:nvPr/>
        </p:nvPicPr>
        <p:blipFill>
          <a:blip r:embed="rId10"/>
          <a:stretch>
            <a:fillRect/>
          </a:stretch>
        </p:blipFill>
        <p:spPr>
          <a:xfrm>
            <a:off x="4585008" y="4177397"/>
            <a:ext cx="526554" cy="471458"/>
          </a:xfrm>
          <a:prstGeom prst="rect">
            <a:avLst/>
          </a:prstGeom>
        </p:spPr>
      </p:pic>
      <p:sp>
        <p:nvSpPr>
          <p:cNvPr id="48" name="TextBox 47">
            <a:extLst>
              <a:ext uri="{FF2B5EF4-FFF2-40B4-BE49-F238E27FC236}">
                <a16:creationId xmlns:a16="http://schemas.microsoft.com/office/drawing/2014/main" id="{B1A1D2D7-7B18-421A-32BE-FFAA4A6CDFFA}"/>
              </a:ext>
            </a:extLst>
          </p:cNvPr>
          <p:cNvSpPr txBox="1"/>
          <p:nvPr/>
        </p:nvSpPr>
        <p:spPr>
          <a:xfrm>
            <a:off x="926202" y="1820942"/>
            <a:ext cx="3299460" cy="728789"/>
          </a:xfrm>
          <a:prstGeom prst="rect">
            <a:avLst/>
          </a:prstGeom>
          <a:noFill/>
        </p:spPr>
        <p:txBody>
          <a:bodyPr wrap="square">
            <a:spAutoFit/>
          </a:bodyPr>
          <a:lstStyle/>
          <a:p>
            <a:pPr>
              <a:lnSpc>
                <a:spcPct val="133000"/>
              </a:lnSpc>
            </a:pPr>
            <a:r>
              <a:rPr lang="en-IN" sz="800" b="1" dirty="0"/>
              <a:t>Python is the core programming language used to develop the </a:t>
            </a:r>
            <a:r>
              <a:rPr lang="en-IN" sz="800" b="1" dirty="0" err="1"/>
              <a:t>MediPredict</a:t>
            </a:r>
            <a:r>
              <a:rPr lang="en-IN" sz="800" b="1" dirty="0"/>
              <a:t> AI system. It handles data preprocessing, machine learning implementation, and backend logic. Its simplicity and extensive libraries make development efficient and reliable.</a:t>
            </a:r>
            <a:endParaRPr lang="en-US" sz="800" b="1" dirty="0"/>
          </a:p>
        </p:txBody>
      </p:sp>
      <p:sp>
        <p:nvSpPr>
          <p:cNvPr id="50" name="TextBox 49">
            <a:extLst>
              <a:ext uri="{FF2B5EF4-FFF2-40B4-BE49-F238E27FC236}">
                <a16:creationId xmlns:a16="http://schemas.microsoft.com/office/drawing/2014/main" id="{68CC17BB-CA90-8A32-3D1E-E2116207E234}"/>
              </a:ext>
            </a:extLst>
          </p:cNvPr>
          <p:cNvSpPr txBox="1"/>
          <p:nvPr/>
        </p:nvSpPr>
        <p:spPr>
          <a:xfrm>
            <a:off x="5117866" y="1845632"/>
            <a:ext cx="4572000" cy="461665"/>
          </a:xfrm>
          <a:prstGeom prst="rect">
            <a:avLst/>
          </a:prstGeom>
          <a:noFill/>
        </p:spPr>
        <p:txBody>
          <a:bodyPr wrap="square">
            <a:spAutoFit/>
          </a:bodyPr>
          <a:lstStyle/>
          <a:p>
            <a:r>
              <a:rPr lang="en-IN" sz="800" b="1" dirty="0"/>
              <a:t>Flask is a lightweight Python web framework used to build the backend of the application. It connects the frontend with the trained machine learning models, processes user inputs, and returns prediction results through web requests.</a:t>
            </a:r>
          </a:p>
        </p:txBody>
      </p:sp>
      <p:sp>
        <p:nvSpPr>
          <p:cNvPr id="52" name="TextBox 51">
            <a:extLst>
              <a:ext uri="{FF2B5EF4-FFF2-40B4-BE49-F238E27FC236}">
                <a16:creationId xmlns:a16="http://schemas.microsoft.com/office/drawing/2014/main" id="{3F99D785-25BD-C94D-E05D-635A23CCEF9D}"/>
              </a:ext>
            </a:extLst>
          </p:cNvPr>
          <p:cNvSpPr txBox="1"/>
          <p:nvPr/>
        </p:nvSpPr>
        <p:spPr>
          <a:xfrm>
            <a:off x="919189" y="2776943"/>
            <a:ext cx="3564184" cy="605680"/>
          </a:xfrm>
          <a:prstGeom prst="rect">
            <a:avLst/>
          </a:prstGeom>
          <a:noFill/>
        </p:spPr>
        <p:txBody>
          <a:bodyPr wrap="square">
            <a:spAutoFit/>
          </a:bodyPr>
          <a:lstStyle/>
          <a:p>
            <a:r>
              <a:rPr lang="en-IN" sz="800" b="1" dirty="0"/>
              <a:t>HTML, CSS, and JavaScript are used to create the frontend of the application. HTML provides the page structure, CSS enhances the visual design, and JavaScript adds interactivity and form validation for a better user experience.</a:t>
            </a:r>
          </a:p>
        </p:txBody>
      </p:sp>
      <p:sp>
        <p:nvSpPr>
          <p:cNvPr id="54" name="TextBox 53">
            <a:extLst>
              <a:ext uri="{FF2B5EF4-FFF2-40B4-BE49-F238E27FC236}">
                <a16:creationId xmlns:a16="http://schemas.microsoft.com/office/drawing/2014/main" id="{F22828ED-3043-9D9F-3ECD-AE4E83047DF9}"/>
              </a:ext>
            </a:extLst>
          </p:cNvPr>
          <p:cNvSpPr txBox="1"/>
          <p:nvPr/>
        </p:nvSpPr>
        <p:spPr>
          <a:xfrm>
            <a:off x="934429" y="3582943"/>
            <a:ext cx="3017520" cy="707886"/>
          </a:xfrm>
          <a:prstGeom prst="rect">
            <a:avLst/>
          </a:prstGeom>
          <a:noFill/>
        </p:spPr>
        <p:txBody>
          <a:bodyPr wrap="square">
            <a:spAutoFit/>
          </a:bodyPr>
          <a:lstStyle/>
          <a:p>
            <a:r>
              <a:rPr lang="en-IN" sz="800" b="1" dirty="0"/>
              <a:t>Pandas and NumPy are essential Python libraries for data analysis and preprocessing. They are used to clean, organize, and manipulate datasets while performing efficient numerical computations required for machine learning.</a:t>
            </a:r>
          </a:p>
        </p:txBody>
      </p:sp>
      <p:sp>
        <p:nvSpPr>
          <p:cNvPr id="56" name="TextBox 55">
            <a:extLst>
              <a:ext uri="{FF2B5EF4-FFF2-40B4-BE49-F238E27FC236}">
                <a16:creationId xmlns:a16="http://schemas.microsoft.com/office/drawing/2014/main" id="{6938D1A9-AA90-90ED-C47A-B56C011D9DC9}"/>
              </a:ext>
            </a:extLst>
          </p:cNvPr>
          <p:cNvSpPr txBox="1"/>
          <p:nvPr/>
        </p:nvSpPr>
        <p:spPr>
          <a:xfrm>
            <a:off x="919189" y="4454428"/>
            <a:ext cx="3179811" cy="584775"/>
          </a:xfrm>
          <a:prstGeom prst="rect">
            <a:avLst/>
          </a:prstGeom>
          <a:noFill/>
        </p:spPr>
        <p:txBody>
          <a:bodyPr wrap="square">
            <a:spAutoFit/>
          </a:bodyPr>
          <a:lstStyle/>
          <a:p>
            <a:r>
              <a:rPr lang="en-IN" sz="800" b="1" dirty="0"/>
              <a:t>Visual Studio Code is the primary development environment used for this project. It provides support for Python, Flask, HTML, CSS, and JavaScript, along with debugging tools and extensions that improve development productivity.</a:t>
            </a:r>
          </a:p>
        </p:txBody>
      </p:sp>
      <p:sp>
        <p:nvSpPr>
          <p:cNvPr id="58" name="TextBox 57">
            <a:extLst>
              <a:ext uri="{FF2B5EF4-FFF2-40B4-BE49-F238E27FC236}">
                <a16:creationId xmlns:a16="http://schemas.microsoft.com/office/drawing/2014/main" id="{5391D9E8-9780-80AB-7FED-3A4DC189BD17}"/>
              </a:ext>
            </a:extLst>
          </p:cNvPr>
          <p:cNvSpPr txBox="1"/>
          <p:nvPr/>
        </p:nvSpPr>
        <p:spPr>
          <a:xfrm>
            <a:off x="5139402" y="2736280"/>
            <a:ext cx="3101340" cy="584775"/>
          </a:xfrm>
          <a:prstGeom prst="rect">
            <a:avLst/>
          </a:prstGeom>
          <a:noFill/>
        </p:spPr>
        <p:txBody>
          <a:bodyPr wrap="square">
            <a:spAutoFit/>
          </a:bodyPr>
          <a:lstStyle/>
          <a:p>
            <a:r>
              <a:rPr lang="en-IN" sz="800" b="1" dirty="0" err="1"/>
              <a:t>Joblib</a:t>
            </a:r>
            <a:r>
              <a:rPr lang="en-IN" sz="800" b="1" dirty="0"/>
              <a:t> is used to save and load trained machine learning models efficiently. It enables the application to reuse the trained models without retraining them, resulting in faster and more consistent predictions.</a:t>
            </a:r>
          </a:p>
        </p:txBody>
      </p:sp>
      <p:sp>
        <p:nvSpPr>
          <p:cNvPr id="60" name="TextBox 59">
            <a:extLst>
              <a:ext uri="{FF2B5EF4-FFF2-40B4-BE49-F238E27FC236}">
                <a16:creationId xmlns:a16="http://schemas.microsoft.com/office/drawing/2014/main" id="{60C75F05-8A84-9ECA-972A-491201FD9434}"/>
              </a:ext>
            </a:extLst>
          </p:cNvPr>
          <p:cNvSpPr txBox="1"/>
          <p:nvPr/>
        </p:nvSpPr>
        <p:spPr>
          <a:xfrm>
            <a:off x="5111562" y="4392872"/>
            <a:ext cx="2648986" cy="707886"/>
          </a:xfrm>
          <a:prstGeom prst="rect">
            <a:avLst/>
          </a:prstGeom>
          <a:noFill/>
        </p:spPr>
        <p:txBody>
          <a:bodyPr wrap="square">
            <a:spAutoFit/>
          </a:bodyPr>
          <a:lstStyle/>
          <a:p>
            <a:r>
              <a:rPr lang="en-IN" sz="800" b="1" dirty="0"/>
              <a:t>GitHub is used for version control and project management throughout the development process. It stores the source code securely, tracks changes, and simplifies collaboration and project maintenance.</a:t>
            </a:r>
          </a:p>
        </p:txBody>
      </p:sp>
      <p:sp>
        <p:nvSpPr>
          <p:cNvPr id="62" name="TextBox 61">
            <a:extLst>
              <a:ext uri="{FF2B5EF4-FFF2-40B4-BE49-F238E27FC236}">
                <a16:creationId xmlns:a16="http://schemas.microsoft.com/office/drawing/2014/main" id="{EEECFA78-1C69-B35E-7151-D3BF2FF79AAB}"/>
              </a:ext>
            </a:extLst>
          </p:cNvPr>
          <p:cNvSpPr txBox="1"/>
          <p:nvPr/>
        </p:nvSpPr>
        <p:spPr>
          <a:xfrm>
            <a:off x="5111562" y="3564576"/>
            <a:ext cx="3849430" cy="584775"/>
          </a:xfrm>
          <a:prstGeom prst="rect">
            <a:avLst/>
          </a:prstGeom>
          <a:noFill/>
        </p:spPr>
        <p:txBody>
          <a:bodyPr wrap="square">
            <a:spAutoFit/>
          </a:bodyPr>
          <a:lstStyle/>
          <a:p>
            <a:r>
              <a:rPr lang="en-IN" sz="800" b="1" dirty="0" err="1"/>
              <a:t>Joblib</a:t>
            </a:r>
            <a:r>
              <a:rPr lang="en-IN" sz="800" b="1" dirty="0"/>
              <a:t> is a Python library used to save and load trained machine learning models efficiently. It enables the application to use the trained model without retraining it every time. This reduces loading time, improves performance, and ensures consistent prediction results.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713132" y="833482"/>
            <a:ext cx="5236467" cy="232544"/>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Georgia" panose="02040502050405020303" pitchFamily="18" charset="0"/>
                <a:ea typeface="Petrona Bold" pitchFamily="34" charset="-122"/>
                <a:cs typeface="Petrona Bold" pitchFamily="34" charset="-120"/>
              </a:rPr>
              <a:t>System Architecture</a:t>
            </a:r>
            <a:endParaRPr lang="en-US" sz="1600" dirty="0">
              <a:latin typeface="Georgia" panose="02040502050405020303" pitchFamily="18" charset="0"/>
            </a:endParaRPr>
          </a:p>
        </p:txBody>
      </p:sp>
      <p:sp>
        <p:nvSpPr>
          <p:cNvPr id="4" name="Text 1"/>
          <p:cNvSpPr/>
          <p:nvPr/>
        </p:nvSpPr>
        <p:spPr>
          <a:xfrm>
            <a:off x="996342" y="4385548"/>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ML Models</a:t>
            </a:r>
            <a:endParaRPr lang="en-US" sz="1500" dirty="0"/>
          </a:p>
        </p:txBody>
      </p:sp>
      <p:sp>
        <p:nvSpPr>
          <p:cNvPr id="5" name="Text 2"/>
          <p:cNvSpPr/>
          <p:nvPr/>
        </p:nvSpPr>
        <p:spPr>
          <a:xfrm>
            <a:off x="996342" y="3528275"/>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Flask Backend</a:t>
            </a:r>
            <a:endParaRPr lang="en-US" sz="1500" dirty="0"/>
          </a:p>
        </p:txBody>
      </p:sp>
      <p:sp>
        <p:nvSpPr>
          <p:cNvPr id="6" name="Text 3"/>
          <p:cNvSpPr/>
          <p:nvPr/>
        </p:nvSpPr>
        <p:spPr>
          <a:xfrm>
            <a:off x="996342" y="2783523"/>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Web Interface</a:t>
            </a:r>
            <a:endParaRPr lang="en-US" sz="1500" dirty="0"/>
          </a:p>
        </p:txBody>
      </p:sp>
      <p:sp>
        <p:nvSpPr>
          <p:cNvPr id="7" name="Text 4"/>
          <p:cNvSpPr/>
          <p:nvPr/>
        </p:nvSpPr>
        <p:spPr>
          <a:xfrm>
            <a:off x="996342" y="2000975"/>
            <a:ext cx="1925806" cy="240726"/>
          </a:xfrm>
          <a:prstGeom prst="rect">
            <a:avLst/>
          </a:prstGeom>
          <a:noFill/>
          <a:ln/>
        </p:spPr>
        <p:txBody>
          <a:bodyPr wrap="none" lIns="0" tIns="0" rIns="0" bIns="0" rtlCol="0" anchor="t"/>
          <a:lstStyle/>
          <a:p>
            <a:pPr marL="0" indent="0" algn="l">
              <a:lnSpc>
                <a:spcPct val="104000"/>
              </a:lnSpc>
              <a:buNone/>
            </a:pPr>
            <a:r>
              <a:rPr lang="en-US" sz="1500" b="1" dirty="0">
                <a:solidFill>
                  <a:srgbClr val="FFFFFF"/>
                </a:solidFill>
                <a:latin typeface="Petrona Bold" pitchFamily="34" charset="0"/>
                <a:ea typeface="Petrona Bold" pitchFamily="34" charset="-122"/>
                <a:cs typeface="Petrona Bold" pitchFamily="34" charset="-120"/>
              </a:rPr>
              <a:t>User</a:t>
            </a:r>
            <a:endParaRPr lang="en-US" sz="1500" dirty="0"/>
          </a:p>
        </p:txBody>
      </p:sp>
      <p:sp>
        <p:nvSpPr>
          <p:cNvPr id="9" name="Text 6"/>
          <p:cNvSpPr/>
          <p:nvPr/>
        </p:nvSpPr>
        <p:spPr>
          <a:xfrm>
            <a:off x="496119" y="4344144"/>
            <a:ext cx="8151763" cy="474687"/>
          </a:xfrm>
          <a:prstGeom prst="rect">
            <a:avLst/>
          </a:prstGeom>
          <a:noFill/>
          <a:ln/>
        </p:spPr>
        <p:txBody>
          <a:bodyPr wrap="square" lIns="0" tIns="0" rIns="0" bIns="0" rtlCol="0" anchor="t">
            <a:normAutofit/>
          </a:bodyPr>
          <a:lstStyle/>
          <a:p>
            <a:pPr marL="111760" indent="-111760" algn="l">
              <a:lnSpc>
                <a:spcPct val="100000"/>
              </a:lnSpc>
              <a:buSzPct val="100000"/>
              <a:buChar char="•"/>
            </a:pPr>
            <a:endParaRPr lang="en-US" sz="550" dirty="0"/>
          </a:p>
        </p:txBody>
      </p:sp>
      <p:sp>
        <p:nvSpPr>
          <p:cNvPr id="10" name="Text 7"/>
          <p:cNvSpPr/>
          <p:nvPr/>
        </p:nvSpPr>
        <p:spPr>
          <a:xfrm>
            <a:off x="496119" y="4858643"/>
            <a:ext cx="8608963" cy="85055"/>
          </a:xfrm>
          <a:prstGeom prst="rect">
            <a:avLst/>
          </a:prstGeom>
          <a:noFill/>
          <a:ln/>
        </p:spPr>
        <p:txBody>
          <a:bodyPr wrap="none" lIns="0" tIns="0" rIns="0" bIns="0" rtlCol="0" anchor="t"/>
          <a:lstStyle/>
          <a:p>
            <a:pPr marL="0" indent="0" algn="l">
              <a:lnSpc>
                <a:spcPct val="100000"/>
              </a:lnSpc>
              <a:buNone/>
            </a:pPr>
            <a:endParaRPr lang="en-US" sz="550" dirty="0"/>
          </a:p>
        </p:txBody>
      </p:sp>
      <p:pic>
        <p:nvPicPr>
          <p:cNvPr id="12" name="Picture 11">
            <a:extLst>
              <a:ext uri="{FF2B5EF4-FFF2-40B4-BE49-F238E27FC236}">
                <a16:creationId xmlns:a16="http://schemas.microsoft.com/office/drawing/2014/main" id="{BAB3A3CD-963E-3F31-CB18-F2384376ABF7}"/>
              </a:ext>
            </a:extLst>
          </p:cNvPr>
          <p:cNvPicPr>
            <a:picLocks noChangeAspect="1"/>
          </p:cNvPicPr>
          <p:nvPr/>
        </p:nvPicPr>
        <p:blipFill>
          <a:blip r:embed="rId3"/>
          <a:stretch>
            <a:fillRect/>
          </a:stretch>
        </p:blipFill>
        <p:spPr>
          <a:xfrm>
            <a:off x="63203" y="1075965"/>
            <a:ext cx="6489997" cy="4047215"/>
          </a:xfrm>
          <a:prstGeom prst="rect">
            <a:avLst/>
          </a:prstGeom>
        </p:spPr>
      </p:pic>
      <p:sp>
        <p:nvSpPr>
          <p:cNvPr id="14" name="TextBox 13">
            <a:extLst>
              <a:ext uri="{FF2B5EF4-FFF2-40B4-BE49-F238E27FC236}">
                <a16:creationId xmlns:a16="http://schemas.microsoft.com/office/drawing/2014/main" id="{AB1A3E7F-56F8-4D42-59A9-D2D860F99DFC}"/>
              </a:ext>
            </a:extLst>
          </p:cNvPr>
          <p:cNvSpPr txBox="1"/>
          <p:nvPr/>
        </p:nvSpPr>
        <p:spPr>
          <a:xfrm>
            <a:off x="6795648" y="542493"/>
            <a:ext cx="1573078" cy="4555093"/>
          </a:xfrm>
          <a:prstGeom prst="rect">
            <a:avLst/>
          </a:prstGeom>
          <a:noFill/>
        </p:spPr>
        <p:txBody>
          <a:bodyPr wrap="square">
            <a:spAutoFit/>
          </a:bodyPr>
          <a:lstStyle/>
          <a:p>
            <a:r>
              <a:rPr lang="en-IN" sz="1000" b="1" dirty="0"/>
              <a:t>User Interface:</a:t>
            </a:r>
            <a:r>
              <a:rPr lang="en-IN" sz="1000" dirty="0"/>
              <a:t> Users enter patient details through a responsive web application developed using HTML, CSS, and JavaScript. </a:t>
            </a:r>
          </a:p>
          <a:p>
            <a:endParaRPr lang="en-IN" sz="1000" dirty="0"/>
          </a:p>
          <a:p>
            <a:r>
              <a:rPr lang="en-IN" sz="1000" b="1" dirty="0"/>
              <a:t>Backend Processing:</a:t>
            </a:r>
            <a:r>
              <a:rPr lang="en-IN" sz="1000" dirty="0"/>
              <a:t> Flask receives the input, validates the data, and communicates with the machine learning model.</a:t>
            </a:r>
          </a:p>
          <a:p>
            <a:endParaRPr lang="en-IN" sz="1000" dirty="0"/>
          </a:p>
          <a:p>
            <a:r>
              <a:rPr lang="en-IN" sz="1000" b="1" dirty="0"/>
              <a:t>Machine Learning Model:</a:t>
            </a:r>
            <a:r>
              <a:rPr lang="en-IN" sz="1000" dirty="0"/>
              <a:t> The trained model, loaded using </a:t>
            </a:r>
            <a:r>
              <a:rPr lang="en-IN" sz="1000" dirty="0" err="1"/>
              <a:t>Joblib</a:t>
            </a:r>
            <a:r>
              <a:rPr lang="en-IN" sz="1000" dirty="0"/>
              <a:t>, </a:t>
            </a:r>
            <a:r>
              <a:rPr lang="en-IN" sz="1000" dirty="0" err="1"/>
              <a:t>analyzes</a:t>
            </a:r>
            <a:r>
              <a:rPr lang="en-IN" sz="1000" dirty="0"/>
              <a:t> the input and predicts disease risk. </a:t>
            </a:r>
          </a:p>
          <a:p>
            <a:endParaRPr lang="en-IN" sz="1000" dirty="0"/>
          </a:p>
          <a:p>
            <a:r>
              <a:rPr lang="en-IN" sz="1000" b="1" dirty="0"/>
              <a:t>Result Generation:</a:t>
            </a:r>
            <a:r>
              <a:rPr lang="en-IN" sz="1000" dirty="0"/>
              <a:t> The prediction is displayed instantly on the web interface, enabling quick health assessment.</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3925119" y="409649"/>
            <a:ext cx="4722763" cy="843111"/>
          </a:xfrm>
          <a:prstGeom prst="rect">
            <a:avLst/>
          </a:prstGeom>
          <a:noFill/>
          <a:ln/>
        </p:spPr>
        <p:txBody>
          <a:bodyPr wrap="square" lIns="0" tIns="0" rIns="0" bIns="0" rtlCol="0" anchor="t">
            <a:normAutofit/>
          </a:bodyPr>
          <a:lstStyle/>
          <a:p>
            <a:pPr marL="0" indent="0" algn="l">
              <a:lnSpc>
                <a:spcPct val="104000"/>
              </a:lnSpc>
              <a:buNone/>
            </a:pPr>
            <a:r>
              <a:rPr lang="en-US" sz="2650" b="1" dirty="0">
                <a:solidFill>
                  <a:srgbClr val="000000"/>
                </a:solidFill>
                <a:latin typeface="Petrona Bold" pitchFamily="34" charset="0"/>
                <a:ea typeface="Petrona Bold" pitchFamily="34" charset="-122"/>
                <a:cs typeface="Petrona Bold" pitchFamily="34" charset="-120"/>
              </a:rPr>
              <a:t>Heart Disease Prediction Module</a:t>
            </a:r>
            <a:endParaRPr lang="en-US" sz="2650" dirty="0"/>
          </a:p>
        </p:txBody>
      </p:sp>
      <p:sp>
        <p:nvSpPr>
          <p:cNvPr id="4" name="Shape 1"/>
          <p:cNvSpPr/>
          <p:nvPr/>
        </p:nvSpPr>
        <p:spPr>
          <a:xfrm>
            <a:off x="3925119" y="1427336"/>
            <a:ext cx="1496616" cy="2210619"/>
          </a:xfrm>
          <a:prstGeom prst="roundRect">
            <a:avLst>
              <a:gd name="adj" fmla="val 3605"/>
            </a:avLst>
          </a:prstGeom>
          <a:solidFill>
            <a:srgbClr val="CCEEFF"/>
          </a:solidFill>
          <a:ln w="4763">
            <a:solidFill>
              <a:srgbClr val="B2D4E5"/>
            </a:solidFill>
            <a:prstDash val="solid"/>
          </a:ln>
        </p:spPr>
      </p:sp>
      <p:sp>
        <p:nvSpPr>
          <p:cNvPr id="5" name="Text 2"/>
          <p:cNvSpPr/>
          <p:nvPr/>
        </p:nvSpPr>
        <p:spPr>
          <a:xfrm>
            <a:off x="4058320" y="1560537"/>
            <a:ext cx="1230213" cy="421481"/>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Dataset overview</a:t>
            </a:r>
            <a:endParaRPr lang="en-US" sz="1300" dirty="0"/>
          </a:p>
        </p:txBody>
      </p:sp>
      <p:sp>
        <p:nvSpPr>
          <p:cNvPr id="6" name="Text 3"/>
          <p:cNvSpPr/>
          <p:nvPr/>
        </p:nvSpPr>
        <p:spPr>
          <a:xfrm>
            <a:off x="4058320" y="2051819"/>
            <a:ext cx="1230213" cy="979661"/>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272525"/>
                </a:solidFill>
                <a:latin typeface="Inter" pitchFamily="34" charset="0"/>
                <a:ea typeface="Inter" pitchFamily="34" charset="-122"/>
                <a:cs typeface="Inter" pitchFamily="34" charset="-120"/>
              </a:rPr>
              <a:t>Public heart disease dataset — clinical features &amp; ECG markers; N rows after cleaning</a:t>
            </a:r>
            <a:endParaRPr lang="en-US" sz="1000" dirty="0"/>
          </a:p>
        </p:txBody>
      </p:sp>
      <p:sp>
        <p:nvSpPr>
          <p:cNvPr id="7" name="Shape 4"/>
          <p:cNvSpPr/>
          <p:nvPr/>
        </p:nvSpPr>
        <p:spPr>
          <a:xfrm>
            <a:off x="5538118" y="1427336"/>
            <a:ext cx="1496690" cy="2210619"/>
          </a:xfrm>
          <a:prstGeom prst="roundRect">
            <a:avLst>
              <a:gd name="adj" fmla="val 3605"/>
            </a:avLst>
          </a:prstGeom>
          <a:solidFill>
            <a:srgbClr val="CCEEFF"/>
          </a:solidFill>
          <a:ln w="4763">
            <a:solidFill>
              <a:srgbClr val="B2D4E5"/>
            </a:solidFill>
            <a:prstDash val="solid"/>
          </a:ln>
        </p:spPr>
      </p:sp>
      <p:sp>
        <p:nvSpPr>
          <p:cNvPr id="8" name="Text 5"/>
          <p:cNvSpPr/>
          <p:nvPr/>
        </p:nvSpPr>
        <p:spPr>
          <a:xfrm>
            <a:off x="5671319" y="1560537"/>
            <a:ext cx="1230288" cy="421481"/>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Input parameters</a:t>
            </a:r>
            <a:endParaRPr lang="en-US" sz="1300" dirty="0"/>
          </a:p>
        </p:txBody>
      </p:sp>
      <p:sp>
        <p:nvSpPr>
          <p:cNvPr id="9" name="Text 6"/>
          <p:cNvSpPr/>
          <p:nvPr/>
        </p:nvSpPr>
        <p:spPr>
          <a:xfrm>
            <a:off x="5671319" y="2051819"/>
            <a:ext cx="1230288" cy="1452935"/>
          </a:xfrm>
          <a:prstGeom prst="rect">
            <a:avLst/>
          </a:prstGeom>
          <a:noFill/>
          <a:ln/>
        </p:spPr>
        <p:txBody>
          <a:bodyPr wrap="square" lIns="0" tIns="0" rIns="0" bIns="0" rtlCol="0" anchor="t">
            <a:normAutofit/>
          </a:bodyPr>
          <a:lstStyle/>
          <a:p>
            <a:pPr marL="203200" indent="-203200" algn="l">
              <a:lnSpc>
                <a:spcPct val="127000"/>
              </a:lnSpc>
              <a:buSzPct val="100000"/>
              <a:buChar char="•"/>
            </a:pPr>
            <a:r>
              <a:rPr lang="en-US" sz="1000" dirty="0">
                <a:solidFill>
                  <a:srgbClr val="272525"/>
                </a:solidFill>
                <a:latin typeface="Inter" pitchFamily="34" charset="0"/>
                <a:ea typeface="Inter" pitchFamily="34" charset="-122"/>
                <a:cs typeface="Inter" pitchFamily="34" charset="-120"/>
              </a:rPr>
              <a:t>Age, Sex, Chest pain type</a:t>
            </a:r>
            <a:endParaRPr lang="en-US" sz="1000" dirty="0"/>
          </a:p>
          <a:p>
            <a:pPr marL="203200" indent="-203200" algn="l">
              <a:lnSpc>
                <a:spcPct val="127000"/>
              </a:lnSpc>
              <a:buSzPct val="100000"/>
              <a:buChar char="•"/>
            </a:pPr>
            <a:r>
              <a:rPr lang="en-US" sz="1000" dirty="0">
                <a:solidFill>
                  <a:srgbClr val="272525"/>
                </a:solidFill>
                <a:latin typeface="Inter" pitchFamily="34" charset="0"/>
                <a:ea typeface="Inter" pitchFamily="34" charset="-122"/>
                <a:cs typeface="Inter" pitchFamily="34" charset="-120"/>
              </a:rPr>
              <a:t>BP, Cholesterol, Fasting blood sugar</a:t>
            </a:r>
            <a:endParaRPr lang="en-US" sz="1000" dirty="0"/>
          </a:p>
          <a:p>
            <a:pPr marL="203200" indent="-203200" algn="l">
              <a:lnSpc>
                <a:spcPct val="127000"/>
              </a:lnSpc>
              <a:buSzPct val="100000"/>
              <a:buChar char="•"/>
            </a:pPr>
            <a:r>
              <a:rPr lang="en-US" sz="1000" dirty="0">
                <a:solidFill>
                  <a:srgbClr val="272525"/>
                </a:solidFill>
                <a:latin typeface="Inter" pitchFamily="34" charset="0"/>
                <a:ea typeface="Inter" pitchFamily="34" charset="-122"/>
                <a:cs typeface="Inter" pitchFamily="34" charset="-120"/>
              </a:rPr>
              <a:t>ECG results, Max heart rate</a:t>
            </a:r>
            <a:endParaRPr lang="en-US" sz="1000" dirty="0"/>
          </a:p>
        </p:txBody>
      </p:sp>
      <p:sp>
        <p:nvSpPr>
          <p:cNvPr id="10" name="Shape 7"/>
          <p:cNvSpPr/>
          <p:nvPr/>
        </p:nvSpPr>
        <p:spPr>
          <a:xfrm>
            <a:off x="7151191" y="1427336"/>
            <a:ext cx="1496690" cy="2210619"/>
          </a:xfrm>
          <a:prstGeom prst="roundRect">
            <a:avLst>
              <a:gd name="adj" fmla="val 3605"/>
            </a:avLst>
          </a:prstGeom>
          <a:solidFill>
            <a:srgbClr val="CCEEFF"/>
          </a:solidFill>
          <a:ln w="4763">
            <a:solidFill>
              <a:srgbClr val="B2D4E5"/>
            </a:solidFill>
            <a:prstDash val="solid"/>
          </a:ln>
        </p:spPr>
      </p:sp>
      <p:sp>
        <p:nvSpPr>
          <p:cNvPr id="11" name="Text 8"/>
          <p:cNvSpPr/>
          <p:nvPr/>
        </p:nvSpPr>
        <p:spPr>
          <a:xfrm>
            <a:off x="7284393" y="1560537"/>
            <a:ext cx="1230288" cy="210741"/>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Model</a:t>
            </a:r>
            <a:endParaRPr lang="en-US" sz="1300" dirty="0"/>
          </a:p>
        </p:txBody>
      </p:sp>
      <p:sp>
        <p:nvSpPr>
          <p:cNvPr id="12" name="Text 9"/>
          <p:cNvSpPr/>
          <p:nvPr/>
        </p:nvSpPr>
        <p:spPr>
          <a:xfrm>
            <a:off x="7284393" y="1841078"/>
            <a:ext cx="1230288" cy="587797"/>
          </a:xfrm>
          <a:prstGeom prst="rect">
            <a:avLst/>
          </a:prstGeom>
          <a:noFill/>
          <a:ln/>
        </p:spPr>
        <p:txBody>
          <a:bodyPr wrap="square" lIns="0" tIns="0" rIns="0" bIns="0" rtlCol="0" anchor="t">
            <a:normAutofit/>
          </a:bodyPr>
          <a:lstStyle/>
          <a:p>
            <a:pPr marL="0" indent="0" algn="l">
              <a:lnSpc>
                <a:spcPct val="127000"/>
              </a:lnSpc>
              <a:buNone/>
            </a:pPr>
            <a:r>
              <a:rPr lang="en-US" sz="1000" dirty="0">
                <a:solidFill>
                  <a:srgbClr val="272525"/>
                </a:solidFill>
                <a:latin typeface="Inter" pitchFamily="34" charset="0"/>
                <a:ea typeface="Inter" pitchFamily="34" charset="-122"/>
                <a:cs typeface="Inter" pitchFamily="34" charset="-120"/>
              </a:rPr>
              <a:t>Logistic Regression — calibrated, regularized</a:t>
            </a:r>
            <a:endParaRPr lang="en-US" sz="1000" dirty="0"/>
          </a:p>
        </p:txBody>
      </p:sp>
      <p:sp>
        <p:nvSpPr>
          <p:cNvPr id="13" name="Shape 10"/>
          <p:cNvSpPr/>
          <p:nvPr/>
        </p:nvSpPr>
        <p:spPr>
          <a:xfrm>
            <a:off x="3925119" y="3754338"/>
            <a:ext cx="4722763" cy="979512"/>
          </a:xfrm>
          <a:prstGeom prst="roundRect">
            <a:avLst>
              <a:gd name="adj" fmla="val 5509"/>
            </a:avLst>
          </a:prstGeom>
          <a:solidFill>
            <a:srgbClr val="CCEEFF"/>
          </a:solidFill>
          <a:ln w="4763">
            <a:solidFill>
              <a:srgbClr val="B2D4E5"/>
            </a:solidFill>
            <a:prstDash val="solid"/>
          </a:ln>
        </p:spPr>
      </p:sp>
      <p:sp>
        <p:nvSpPr>
          <p:cNvPr id="14" name="Text 11"/>
          <p:cNvSpPr/>
          <p:nvPr/>
        </p:nvSpPr>
        <p:spPr>
          <a:xfrm>
            <a:off x="4058320" y="3887539"/>
            <a:ext cx="4456361" cy="210741"/>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Output &amp; Metrics</a:t>
            </a:r>
            <a:endParaRPr lang="en-US" sz="1300" dirty="0"/>
          </a:p>
        </p:txBody>
      </p:sp>
      <p:sp>
        <p:nvSpPr>
          <p:cNvPr id="15" name="Text 12"/>
          <p:cNvSpPr/>
          <p:nvPr/>
        </p:nvSpPr>
        <p:spPr>
          <a:xfrm>
            <a:off x="4058320" y="4168080"/>
            <a:ext cx="4456361" cy="432569"/>
          </a:xfrm>
          <a:prstGeom prst="rect">
            <a:avLst/>
          </a:prstGeom>
          <a:noFill/>
          <a:ln/>
        </p:spPr>
        <p:txBody>
          <a:bodyPr wrap="square" lIns="0" tIns="0" rIns="0" bIns="0" rtlCol="0" anchor="t">
            <a:normAutofit/>
          </a:bodyPr>
          <a:lstStyle/>
          <a:p>
            <a:pPr marL="203200" indent="-203200" algn="l">
              <a:lnSpc>
                <a:spcPct val="127000"/>
              </a:lnSpc>
              <a:buSzPct val="100000"/>
              <a:buChar char="•"/>
            </a:pPr>
            <a:r>
              <a:rPr lang="en-US" sz="1000" dirty="0">
                <a:solidFill>
                  <a:srgbClr val="272525"/>
                </a:solidFill>
                <a:latin typeface="Inter" pitchFamily="34" charset="0"/>
                <a:ea typeface="Inter" pitchFamily="34" charset="-122"/>
                <a:cs typeface="Inter" pitchFamily="34" charset="-120"/>
              </a:rPr>
              <a:t>Binary risk prediction + probability</a:t>
            </a:r>
            <a:endParaRPr lang="en-US" sz="1000" dirty="0"/>
          </a:p>
          <a:p>
            <a:pPr marL="203200" indent="-203200" algn="l">
              <a:lnSpc>
                <a:spcPct val="127000"/>
              </a:lnSpc>
              <a:buSzPct val="100000"/>
              <a:buChar char="•"/>
            </a:pPr>
            <a:r>
              <a:rPr lang="en-US" sz="1000" dirty="0">
                <a:solidFill>
                  <a:srgbClr val="272525"/>
                </a:solidFill>
                <a:latin typeface="Inter" pitchFamily="34" charset="0"/>
                <a:ea typeface="Inter" pitchFamily="34" charset="-122"/>
                <a:cs typeface="Inter" pitchFamily="34" charset="-120"/>
              </a:rPr>
              <a:t>Accuracy: 0.92, ROC-AUC: 0.91 (cross-validated)</a:t>
            </a:r>
            <a:endParaRPr lang="en-US" sz="1000" dirty="0"/>
          </a:p>
        </p:txBody>
      </p:sp>
      <p:pic>
        <p:nvPicPr>
          <p:cNvPr id="17" name="Picture 16">
            <a:extLst>
              <a:ext uri="{FF2B5EF4-FFF2-40B4-BE49-F238E27FC236}">
                <a16:creationId xmlns:a16="http://schemas.microsoft.com/office/drawing/2014/main" id="{A5B48CD6-7758-4B36-EC77-7F42A5FA959D}"/>
              </a:ext>
            </a:extLst>
          </p:cNvPr>
          <p:cNvPicPr>
            <a:picLocks noChangeAspect="1"/>
          </p:cNvPicPr>
          <p:nvPr/>
        </p:nvPicPr>
        <p:blipFill>
          <a:blip r:embed="rId3"/>
          <a:stretch>
            <a:fillRect/>
          </a:stretch>
        </p:blipFill>
        <p:spPr>
          <a:xfrm>
            <a:off x="130439" y="2025459"/>
            <a:ext cx="3521733" cy="1298852"/>
          </a:xfrm>
          <a:prstGeom prst="rect">
            <a:avLst/>
          </a:prstGeom>
        </p:spPr>
      </p:pic>
      <p:pic>
        <p:nvPicPr>
          <p:cNvPr id="21" name="Picture 20">
            <a:extLst>
              <a:ext uri="{FF2B5EF4-FFF2-40B4-BE49-F238E27FC236}">
                <a16:creationId xmlns:a16="http://schemas.microsoft.com/office/drawing/2014/main" id="{75B21D36-ED1F-CDD8-0663-F3D3E3F4562E}"/>
              </a:ext>
            </a:extLst>
          </p:cNvPr>
          <p:cNvPicPr>
            <a:picLocks noChangeAspect="1"/>
          </p:cNvPicPr>
          <p:nvPr/>
        </p:nvPicPr>
        <p:blipFill>
          <a:blip r:embed="rId4"/>
          <a:stretch>
            <a:fillRect/>
          </a:stretch>
        </p:blipFill>
        <p:spPr>
          <a:xfrm>
            <a:off x="205736" y="329099"/>
            <a:ext cx="3371141" cy="1655538"/>
          </a:xfrm>
          <a:prstGeom prst="rect">
            <a:avLst/>
          </a:prstGeom>
        </p:spPr>
      </p:pic>
      <p:pic>
        <p:nvPicPr>
          <p:cNvPr id="25" name="Picture 24">
            <a:extLst>
              <a:ext uri="{FF2B5EF4-FFF2-40B4-BE49-F238E27FC236}">
                <a16:creationId xmlns:a16="http://schemas.microsoft.com/office/drawing/2014/main" id="{561F1A1D-4AE4-14E9-AC38-F970F52FBA6F}"/>
              </a:ext>
            </a:extLst>
          </p:cNvPr>
          <p:cNvPicPr>
            <a:picLocks noChangeAspect="1"/>
          </p:cNvPicPr>
          <p:nvPr/>
        </p:nvPicPr>
        <p:blipFill>
          <a:blip r:embed="rId5"/>
          <a:stretch>
            <a:fillRect/>
          </a:stretch>
        </p:blipFill>
        <p:spPr>
          <a:xfrm>
            <a:off x="16819" y="3380404"/>
            <a:ext cx="3791917" cy="143575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496119" y="617542"/>
            <a:ext cx="4722763" cy="828526"/>
          </a:xfrm>
          <a:prstGeom prst="rect">
            <a:avLst/>
          </a:prstGeom>
          <a:noFill/>
          <a:ln/>
        </p:spPr>
        <p:txBody>
          <a:bodyPr wrap="square" lIns="0" tIns="0" rIns="0" bIns="0" rtlCol="0" anchor="t">
            <a:normAutofit fontScale="92500"/>
          </a:bodyPr>
          <a:lstStyle/>
          <a:p>
            <a:pPr marL="0" indent="0" algn="l">
              <a:lnSpc>
                <a:spcPct val="104000"/>
              </a:lnSpc>
              <a:buNone/>
            </a:pPr>
            <a:endParaRPr lang="en-US" sz="2600" b="1" dirty="0">
              <a:solidFill>
                <a:srgbClr val="000000"/>
              </a:solidFill>
              <a:latin typeface="Petrona Bold" pitchFamily="34" charset="0"/>
              <a:ea typeface="Petrona Bold" pitchFamily="34" charset="-122"/>
              <a:cs typeface="Petrona Bold" pitchFamily="34" charset="-120"/>
            </a:endParaRPr>
          </a:p>
          <a:p>
            <a:pPr marL="0" indent="0" algn="l">
              <a:lnSpc>
                <a:spcPct val="104000"/>
              </a:lnSpc>
              <a:buNone/>
            </a:pPr>
            <a:r>
              <a:rPr lang="en-US" sz="2600" b="1" dirty="0">
                <a:solidFill>
                  <a:srgbClr val="000000"/>
                </a:solidFill>
                <a:latin typeface="Petrona Bold" pitchFamily="34" charset="0"/>
                <a:ea typeface="Petrona Bold" pitchFamily="34" charset="-122"/>
                <a:cs typeface="Petrona Bold" pitchFamily="34" charset="-120"/>
              </a:rPr>
              <a:t>Chronic Kidney Disease Module</a:t>
            </a:r>
            <a:endParaRPr lang="en-US" sz="2600" dirty="0"/>
          </a:p>
        </p:txBody>
      </p:sp>
      <p:sp>
        <p:nvSpPr>
          <p:cNvPr id="4" name="Shape 1"/>
          <p:cNvSpPr/>
          <p:nvPr/>
        </p:nvSpPr>
        <p:spPr>
          <a:xfrm>
            <a:off x="496119" y="1551384"/>
            <a:ext cx="1499295" cy="1967805"/>
          </a:xfrm>
          <a:prstGeom prst="roundRect">
            <a:avLst>
              <a:gd name="adj" fmla="val 3537"/>
            </a:avLst>
          </a:prstGeom>
          <a:solidFill>
            <a:srgbClr val="CCEEFF"/>
          </a:solidFill>
          <a:ln w="4763">
            <a:solidFill>
              <a:srgbClr val="B2D4E5"/>
            </a:solidFill>
            <a:prstDash val="solid"/>
          </a:ln>
        </p:spPr>
      </p:sp>
      <p:sp>
        <p:nvSpPr>
          <p:cNvPr id="5" name="Text 2"/>
          <p:cNvSpPr/>
          <p:nvPr/>
        </p:nvSpPr>
        <p:spPr>
          <a:xfrm>
            <a:off x="627087" y="1682353"/>
            <a:ext cx="1237357" cy="41418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Dataset overview</a:t>
            </a:r>
            <a:endParaRPr lang="en-US" sz="1300" dirty="0"/>
          </a:p>
        </p:txBody>
      </p:sp>
      <p:sp>
        <p:nvSpPr>
          <p:cNvPr id="6" name="Text 3"/>
          <p:cNvSpPr/>
          <p:nvPr/>
        </p:nvSpPr>
        <p:spPr>
          <a:xfrm>
            <a:off x="627087" y="2163961"/>
            <a:ext cx="1237357" cy="95473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272525"/>
                </a:solidFill>
                <a:latin typeface="Inter" pitchFamily="34" charset="0"/>
                <a:ea typeface="Inter" pitchFamily="34" charset="-122"/>
                <a:cs typeface="Inter" pitchFamily="34" charset="-120"/>
              </a:rPr>
              <a:t>CKD dataset with lab tests (creatinine, urea) and demographic fields; cleaned &amp; imputed</a:t>
            </a:r>
            <a:endParaRPr lang="en-US" sz="950" dirty="0"/>
          </a:p>
        </p:txBody>
      </p:sp>
      <p:sp>
        <p:nvSpPr>
          <p:cNvPr id="7" name="Shape 4"/>
          <p:cNvSpPr/>
          <p:nvPr/>
        </p:nvSpPr>
        <p:spPr>
          <a:xfrm>
            <a:off x="2107853" y="1551384"/>
            <a:ext cx="1499295" cy="1967805"/>
          </a:xfrm>
          <a:prstGeom prst="roundRect">
            <a:avLst>
              <a:gd name="adj" fmla="val 3537"/>
            </a:avLst>
          </a:prstGeom>
          <a:solidFill>
            <a:srgbClr val="CCEEFF"/>
          </a:solidFill>
          <a:ln w="4763">
            <a:solidFill>
              <a:srgbClr val="B2D4E5"/>
            </a:solidFill>
            <a:prstDash val="solid"/>
          </a:ln>
        </p:spPr>
      </p:sp>
      <p:sp>
        <p:nvSpPr>
          <p:cNvPr id="8" name="Text 5"/>
          <p:cNvSpPr/>
          <p:nvPr/>
        </p:nvSpPr>
        <p:spPr>
          <a:xfrm>
            <a:off x="2238821" y="1682353"/>
            <a:ext cx="1237357" cy="41418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Input parameters</a:t>
            </a:r>
            <a:endParaRPr lang="en-US" sz="1300" dirty="0"/>
          </a:p>
        </p:txBody>
      </p:sp>
      <p:sp>
        <p:nvSpPr>
          <p:cNvPr id="9" name="Text 6"/>
          <p:cNvSpPr/>
          <p:nvPr/>
        </p:nvSpPr>
        <p:spPr>
          <a:xfrm>
            <a:off x="2238821" y="2163961"/>
            <a:ext cx="1237357" cy="1224260"/>
          </a:xfrm>
          <a:prstGeom prst="rect">
            <a:avLst/>
          </a:prstGeom>
          <a:noFill/>
          <a:ln/>
        </p:spPr>
        <p:txBody>
          <a:bodyPr wrap="square" lIns="0" tIns="0" rIns="0" bIns="0" rtlCol="0" anchor="t">
            <a:normAutofit/>
          </a:bodyPr>
          <a:lstStyle/>
          <a:p>
            <a:pPr marL="193040" indent="-193040" algn="l">
              <a:lnSpc>
                <a:spcPct val="126000"/>
              </a:lnSpc>
              <a:buSzPct val="100000"/>
              <a:buChar char="•"/>
            </a:pPr>
            <a:r>
              <a:rPr lang="en-US" sz="950" dirty="0">
                <a:solidFill>
                  <a:srgbClr val="272525"/>
                </a:solidFill>
                <a:latin typeface="Inter" pitchFamily="34" charset="0"/>
                <a:ea typeface="Inter" pitchFamily="34" charset="-122"/>
                <a:cs typeface="Inter" pitchFamily="34" charset="-120"/>
              </a:rPr>
              <a:t>Age, BP, Specific gravity</a:t>
            </a:r>
            <a:endParaRPr lang="en-US" sz="950" dirty="0"/>
          </a:p>
          <a:p>
            <a:pPr marL="193040" indent="-193040" algn="l">
              <a:lnSpc>
                <a:spcPct val="126000"/>
              </a:lnSpc>
              <a:buSzPct val="100000"/>
              <a:buChar char="•"/>
            </a:pPr>
            <a:r>
              <a:rPr lang="en-US" sz="950" dirty="0">
                <a:solidFill>
                  <a:srgbClr val="272525"/>
                </a:solidFill>
                <a:latin typeface="Inter" pitchFamily="34" charset="0"/>
                <a:ea typeface="Inter" pitchFamily="34" charset="-122"/>
                <a:cs typeface="Inter" pitchFamily="34" charset="-120"/>
              </a:rPr>
              <a:t>Albumin, Sugar, Serum creatinine</a:t>
            </a:r>
            <a:endParaRPr lang="en-US" sz="950" dirty="0"/>
          </a:p>
          <a:p>
            <a:pPr marL="193040" indent="-193040" algn="l">
              <a:lnSpc>
                <a:spcPct val="126000"/>
              </a:lnSpc>
              <a:buSzPct val="100000"/>
              <a:buChar char="•"/>
            </a:pPr>
            <a:r>
              <a:rPr lang="en-US" sz="950" dirty="0">
                <a:solidFill>
                  <a:srgbClr val="272525"/>
                </a:solidFill>
                <a:latin typeface="Inter" pitchFamily="34" charset="0"/>
                <a:ea typeface="Inter" pitchFamily="34" charset="-122"/>
                <a:cs typeface="Inter" pitchFamily="34" charset="-120"/>
              </a:rPr>
              <a:t>Hemoglobin, Pus cell, Bacteria</a:t>
            </a:r>
            <a:endParaRPr lang="en-US" sz="950" dirty="0"/>
          </a:p>
        </p:txBody>
      </p:sp>
      <p:sp>
        <p:nvSpPr>
          <p:cNvPr id="10" name="Shape 7"/>
          <p:cNvSpPr/>
          <p:nvPr/>
        </p:nvSpPr>
        <p:spPr>
          <a:xfrm>
            <a:off x="3719587" y="1551384"/>
            <a:ext cx="1499295" cy="1967805"/>
          </a:xfrm>
          <a:prstGeom prst="roundRect">
            <a:avLst>
              <a:gd name="adj" fmla="val 3537"/>
            </a:avLst>
          </a:prstGeom>
          <a:solidFill>
            <a:srgbClr val="CCEEFF"/>
          </a:solidFill>
          <a:ln w="4763">
            <a:solidFill>
              <a:srgbClr val="B2D4E5"/>
            </a:solidFill>
            <a:prstDash val="solid"/>
          </a:ln>
        </p:spPr>
      </p:sp>
      <p:sp>
        <p:nvSpPr>
          <p:cNvPr id="11" name="Text 8"/>
          <p:cNvSpPr/>
          <p:nvPr/>
        </p:nvSpPr>
        <p:spPr>
          <a:xfrm>
            <a:off x="3850556" y="1682353"/>
            <a:ext cx="1237357" cy="207094"/>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Model</a:t>
            </a:r>
            <a:endParaRPr lang="en-US" sz="1300" dirty="0"/>
          </a:p>
        </p:txBody>
      </p:sp>
      <p:sp>
        <p:nvSpPr>
          <p:cNvPr id="12" name="Text 9"/>
          <p:cNvSpPr/>
          <p:nvPr/>
        </p:nvSpPr>
        <p:spPr>
          <a:xfrm>
            <a:off x="3850556" y="1956867"/>
            <a:ext cx="1237357" cy="954732"/>
          </a:xfrm>
          <a:prstGeom prst="rect">
            <a:avLst/>
          </a:prstGeom>
          <a:noFill/>
          <a:ln/>
        </p:spPr>
        <p:txBody>
          <a:bodyPr wrap="square" lIns="0" tIns="0" rIns="0" bIns="0" rtlCol="0" anchor="t">
            <a:normAutofit/>
          </a:bodyPr>
          <a:lstStyle/>
          <a:p>
            <a:pPr marL="0" indent="0" algn="l">
              <a:lnSpc>
                <a:spcPct val="126000"/>
              </a:lnSpc>
              <a:buNone/>
            </a:pPr>
            <a:r>
              <a:rPr lang="en-US" sz="950" dirty="0">
                <a:solidFill>
                  <a:srgbClr val="272525"/>
                </a:solidFill>
                <a:latin typeface="Inter" pitchFamily="34" charset="0"/>
                <a:ea typeface="Inter" pitchFamily="34" charset="-122"/>
                <a:cs typeface="Inter" pitchFamily="34" charset="-120"/>
              </a:rPr>
              <a:t>Random Forest — tuned with grid search, feature importance extracted</a:t>
            </a:r>
            <a:endParaRPr lang="en-US" sz="950" dirty="0"/>
          </a:p>
        </p:txBody>
      </p:sp>
      <p:sp>
        <p:nvSpPr>
          <p:cNvPr id="13" name="Shape 10"/>
          <p:cNvSpPr/>
          <p:nvPr/>
        </p:nvSpPr>
        <p:spPr>
          <a:xfrm>
            <a:off x="496119" y="3631629"/>
            <a:ext cx="4722763" cy="957635"/>
          </a:xfrm>
          <a:prstGeom prst="roundRect">
            <a:avLst>
              <a:gd name="adj" fmla="val 5538"/>
            </a:avLst>
          </a:prstGeom>
          <a:solidFill>
            <a:srgbClr val="CCEEFF"/>
          </a:solidFill>
          <a:ln w="4763">
            <a:solidFill>
              <a:srgbClr val="B2D4E5"/>
            </a:solidFill>
            <a:prstDash val="solid"/>
          </a:ln>
        </p:spPr>
      </p:sp>
      <p:sp>
        <p:nvSpPr>
          <p:cNvPr id="14" name="Text 11"/>
          <p:cNvSpPr/>
          <p:nvPr/>
        </p:nvSpPr>
        <p:spPr>
          <a:xfrm>
            <a:off x="627087" y="3762598"/>
            <a:ext cx="4460825" cy="207094"/>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Petrona Bold" pitchFamily="34" charset="0"/>
                <a:ea typeface="Petrona Bold" pitchFamily="34" charset="-122"/>
                <a:cs typeface="Petrona Bold" pitchFamily="34" charset="-120"/>
              </a:rPr>
              <a:t>Output &amp; Metrics</a:t>
            </a:r>
            <a:endParaRPr lang="en-US" sz="1300" dirty="0"/>
          </a:p>
        </p:txBody>
      </p:sp>
      <p:sp>
        <p:nvSpPr>
          <p:cNvPr id="15" name="Text 12"/>
          <p:cNvSpPr/>
          <p:nvPr/>
        </p:nvSpPr>
        <p:spPr>
          <a:xfrm>
            <a:off x="627087" y="4037112"/>
            <a:ext cx="4460825" cy="421184"/>
          </a:xfrm>
          <a:prstGeom prst="rect">
            <a:avLst/>
          </a:prstGeom>
          <a:noFill/>
          <a:ln/>
        </p:spPr>
        <p:txBody>
          <a:bodyPr wrap="square" lIns="0" tIns="0" rIns="0" bIns="0" rtlCol="0" anchor="t">
            <a:normAutofit/>
          </a:bodyPr>
          <a:lstStyle/>
          <a:p>
            <a:pPr marL="193040" indent="-193040" algn="l">
              <a:lnSpc>
                <a:spcPct val="126000"/>
              </a:lnSpc>
              <a:buSzPct val="100000"/>
              <a:buChar char="•"/>
            </a:pPr>
            <a:r>
              <a:rPr lang="en-US" sz="950" dirty="0">
                <a:solidFill>
                  <a:srgbClr val="272525"/>
                </a:solidFill>
                <a:latin typeface="Inter" pitchFamily="34" charset="0"/>
                <a:ea typeface="Inter" pitchFamily="34" charset="-122"/>
                <a:cs typeface="Inter" pitchFamily="34" charset="-120"/>
              </a:rPr>
              <a:t>Binary prediction + confidence</a:t>
            </a:r>
            <a:endParaRPr lang="en-US" sz="950" dirty="0"/>
          </a:p>
          <a:p>
            <a:pPr marL="193040" indent="-193040" algn="l">
              <a:lnSpc>
                <a:spcPct val="126000"/>
              </a:lnSpc>
              <a:buSzPct val="100000"/>
              <a:buChar char="•"/>
            </a:pPr>
            <a:r>
              <a:rPr lang="en-US" sz="950" dirty="0">
                <a:solidFill>
                  <a:srgbClr val="272525"/>
                </a:solidFill>
                <a:latin typeface="Inter" pitchFamily="34" charset="0"/>
                <a:ea typeface="Inter" pitchFamily="34" charset="-122"/>
                <a:cs typeface="Inter" pitchFamily="34" charset="-120"/>
              </a:rPr>
              <a:t>Accuracy &amp; ROC-AUC reported (cross-validated)</a:t>
            </a:r>
            <a:endParaRPr lang="en-US" sz="950" dirty="0"/>
          </a:p>
        </p:txBody>
      </p:sp>
      <p:pic>
        <p:nvPicPr>
          <p:cNvPr id="17" name="Picture 16">
            <a:extLst>
              <a:ext uri="{FF2B5EF4-FFF2-40B4-BE49-F238E27FC236}">
                <a16:creationId xmlns:a16="http://schemas.microsoft.com/office/drawing/2014/main" id="{3B694833-CE43-F157-E18B-B9D18CA4BEE3}"/>
              </a:ext>
            </a:extLst>
          </p:cNvPr>
          <p:cNvPicPr>
            <a:picLocks noChangeAspect="1"/>
          </p:cNvPicPr>
          <p:nvPr/>
        </p:nvPicPr>
        <p:blipFill>
          <a:blip r:embed="rId3"/>
          <a:stretch>
            <a:fillRect/>
          </a:stretch>
        </p:blipFill>
        <p:spPr>
          <a:xfrm>
            <a:off x="5727412" y="56271"/>
            <a:ext cx="2713205" cy="1652487"/>
          </a:xfrm>
          <a:prstGeom prst="rect">
            <a:avLst/>
          </a:prstGeom>
        </p:spPr>
      </p:pic>
      <p:pic>
        <p:nvPicPr>
          <p:cNvPr id="19" name="Picture 18">
            <a:extLst>
              <a:ext uri="{FF2B5EF4-FFF2-40B4-BE49-F238E27FC236}">
                <a16:creationId xmlns:a16="http://schemas.microsoft.com/office/drawing/2014/main" id="{03D596C8-B04A-C816-69E3-A6D6E7B38302}"/>
              </a:ext>
            </a:extLst>
          </p:cNvPr>
          <p:cNvPicPr>
            <a:picLocks noChangeAspect="1"/>
          </p:cNvPicPr>
          <p:nvPr/>
        </p:nvPicPr>
        <p:blipFill>
          <a:blip r:embed="rId4"/>
          <a:stretch>
            <a:fillRect/>
          </a:stretch>
        </p:blipFill>
        <p:spPr>
          <a:xfrm>
            <a:off x="5349850" y="1715726"/>
            <a:ext cx="3678005" cy="1362628"/>
          </a:xfrm>
          <a:prstGeom prst="rect">
            <a:avLst/>
          </a:prstGeom>
        </p:spPr>
      </p:pic>
      <p:pic>
        <p:nvPicPr>
          <p:cNvPr id="21" name="Picture 20">
            <a:extLst>
              <a:ext uri="{FF2B5EF4-FFF2-40B4-BE49-F238E27FC236}">
                <a16:creationId xmlns:a16="http://schemas.microsoft.com/office/drawing/2014/main" id="{3F69D896-E6FA-3ADB-B6AC-9583D22768DD}"/>
              </a:ext>
            </a:extLst>
          </p:cNvPr>
          <p:cNvPicPr>
            <a:picLocks noChangeAspect="1"/>
          </p:cNvPicPr>
          <p:nvPr/>
        </p:nvPicPr>
        <p:blipFill>
          <a:blip r:embed="rId5"/>
          <a:stretch>
            <a:fillRect/>
          </a:stretch>
        </p:blipFill>
        <p:spPr>
          <a:xfrm>
            <a:off x="5628936" y="3191697"/>
            <a:ext cx="3123259" cy="1690829"/>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929506"/>
            <a:ext cx="8151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Application Features</a:t>
            </a:r>
            <a:endParaRPr lang="en-US" sz="2900" dirty="0"/>
          </a:p>
        </p:txBody>
      </p:sp>
      <p:sp>
        <p:nvSpPr>
          <p:cNvPr id="4" name="Shape 1"/>
          <p:cNvSpPr/>
          <p:nvPr/>
        </p:nvSpPr>
        <p:spPr>
          <a:xfrm>
            <a:off x="3747492" y="1409565"/>
            <a:ext cx="70842" cy="70842"/>
          </a:xfrm>
          <a:prstGeom prst="ellipse">
            <a:avLst/>
          </a:prstGeom>
          <a:solidFill>
            <a:srgbClr val="007EBD"/>
          </a:solidFill>
          <a:ln/>
        </p:spPr>
      </p:sp>
      <p:sp>
        <p:nvSpPr>
          <p:cNvPr id="5" name="Text 2"/>
          <p:cNvSpPr/>
          <p:nvPr/>
        </p:nvSpPr>
        <p:spPr>
          <a:xfrm>
            <a:off x="3891280" y="1328714"/>
            <a:ext cx="4540076" cy="232544"/>
          </a:xfrm>
          <a:prstGeom prst="rect">
            <a:avLst/>
          </a:prstGeom>
          <a:noFill/>
          <a:ln/>
        </p:spPr>
        <p:txBody>
          <a:bodyPr wrap="none" lIns="0" tIns="0" rIns="0" bIns="0" rtlCol="0" anchor="t"/>
          <a:lstStyle/>
          <a:p>
            <a:pPr marL="0" indent="0" algn="l">
              <a:lnSpc>
                <a:spcPct val="104000"/>
              </a:lnSpc>
              <a:buNone/>
            </a:pPr>
            <a:r>
              <a:rPr lang="en-US" sz="1450" b="1" dirty="0">
                <a:solidFill>
                  <a:srgbClr val="272525"/>
                </a:solidFill>
                <a:latin typeface="Petrona Bold" pitchFamily="34" charset="0"/>
                <a:ea typeface="Petrona Bold" pitchFamily="34" charset="-122"/>
                <a:cs typeface="Petrona Bold" pitchFamily="34" charset="-120"/>
              </a:rPr>
              <a:t>Core features</a:t>
            </a:r>
            <a:endParaRPr lang="en-US" sz="1450" dirty="0"/>
          </a:p>
        </p:txBody>
      </p:sp>
      <p:sp>
        <p:nvSpPr>
          <p:cNvPr id="6" name="Text 3"/>
          <p:cNvSpPr/>
          <p:nvPr/>
        </p:nvSpPr>
        <p:spPr>
          <a:xfrm>
            <a:off x="4112493" y="2293441"/>
            <a:ext cx="4540076" cy="1608683"/>
          </a:xfrm>
          <a:prstGeom prst="rect">
            <a:avLst/>
          </a:prstGeom>
          <a:noFill/>
          <a:ln/>
        </p:spPr>
        <p:txBody>
          <a:bodyPr wrap="square" lIns="0" tIns="0" rIns="0" bIns="0" rtlCol="0" anchor="t">
            <a:normAutofit/>
          </a:bodyPr>
          <a:lstStyle/>
          <a:p>
            <a:pPr marL="223520" indent="-223520" algn="l">
              <a:lnSpc>
                <a:spcPct val="133000"/>
              </a:lnSpc>
              <a:buSzPct val="100000"/>
              <a:buChar char="•"/>
            </a:pPr>
            <a:endParaRPr lang="en-US" sz="1100" dirty="0"/>
          </a:p>
        </p:txBody>
      </p:sp>
      <p:sp>
        <p:nvSpPr>
          <p:cNvPr id="8" name="TextBox 7">
            <a:extLst>
              <a:ext uri="{FF2B5EF4-FFF2-40B4-BE49-F238E27FC236}">
                <a16:creationId xmlns:a16="http://schemas.microsoft.com/office/drawing/2014/main" id="{68433E3C-5496-C34A-89B9-05D39799AB27}"/>
              </a:ext>
            </a:extLst>
          </p:cNvPr>
          <p:cNvSpPr txBox="1"/>
          <p:nvPr/>
        </p:nvSpPr>
        <p:spPr>
          <a:xfrm>
            <a:off x="3891280" y="1501443"/>
            <a:ext cx="4572000" cy="3631763"/>
          </a:xfrm>
          <a:prstGeom prst="rect">
            <a:avLst/>
          </a:prstGeom>
          <a:noFill/>
        </p:spPr>
        <p:txBody>
          <a:bodyPr wrap="square">
            <a:spAutoFit/>
          </a:bodyPr>
          <a:lstStyle/>
          <a:p>
            <a:r>
              <a:rPr lang="en-IN" sz="1000" b="1" dirty="0">
                <a:latin typeface="Georgia" panose="02040502050405020303" pitchFamily="18" charset="0"/>
              </a:rPr>
              <a:t>Machine Learning-Based Analysis</a:t>
            </a:r>
            <a:r>
              <a:rPr lang="en-IN" sz="1000" dirty="0">
                <a:latin typeface="Georgia" panose="02040502050405020303" pitchFamily="18" charset="0"/>
              </a:rPr>
              <a:t>: Uses trained ML models to </a:t>
            </a:r>
            <a:r>
              <a:rPr lang="en-IN" sz="1000" dirty="0" err="1">
                <a:latin typeface="Georgia" panose="02040502050405020303" pitchFamily="18" charset="0"/>
              </a:rPr>
              <a:t>analyze</a:t>
            </a:r>
            <a:r>
              <a:rPr lang="en-IN" sz="1000" dirty="0">
                <a:latin typeface="Georgia" panose="02040502050405020303" pitchFamily="18" charset="0"/>
              </a:rPr>
              <a:t>         patient health parameters and predict disease risk.</a:t>
            </a:r>
          </a:p>
          <a:p>
            <a:endParaRPr lang="en-IN" sz="1000" dirty="0"/>
          </a:p>
          <a:p>
            <a:r>
              <a:rPr lang="en-IN" sz="1000" b="1" dirty="0">
                <a:latin typeface="Georgia" panose="02040502050405020303" pitchFamily="18" charset="0"/>
              </a:rPr>
              <a:t>Secure Data Processing</a:t>
            </a:r>
            <a:r>
              <a:rPr lang="en-IN" sz="1000" dirty="0">
                <a:latin typeface="Georgia" panose="02040502050405020303" pitchFamily="18" charset="0"/>
              </a:rPr>
              <a:t>: Processes user inputs securely without permanently storing sensitive medical information</a:t>
            </a:r>
            <a:r>
              <a:rPr lang="en-IN" sz="1000" dirty="0"/>
              <a:t>.</a:t>
            </a:r>
          </a:p>
          <a:p>
            <a:endParaRPr lang="en-IN" sz="1000" dirty="0"/>
          </a:p>
          <a:p>
            <a:r>
              <a:rPr lang="en-IN" sz="1000" b="1" dirty="0">
                <a:latin typeface="Georgia" panose="02040502050405020303" pitchFamily="18" charset="0"/>
              </a:rPr>
              <a:t>Fast Response Time: </a:t>
            </a:r>
            <a:r>
              <a:rPr lang="en-IN" sz="1000" dirty="0">
                <a:latin typeface="Georgia" panose="02040502050405020303" pitchFamily="18" charset="0"/>
              </a:rPr>
              <a:t>Generates prediction results quickly, improving usability and efficiency. </a:t>
            </a:r>
          </a:p>
          <a:p>
            <a:endParaRPr lang="en-IN" sz="1000" dirty="0">
              <a:latin typeface="Georgia" panose="02040502050405020303" pitchFamily="18" charset="0"/>
            </a:endParaRPr>
          </a:p>
          <a:p>
            <a:r>
              <a:rPr lang="en-IN" sz="1000" b="1" dirty="0">
                <a:latin typeface="Georgia" panose="02040502050405020303" pitchFamily="18" charset="0"/>
              </a:rPr>
              <a:t>Responsive Design</a:t>
            </a:r>
            <a:r>
              <a:rPr lang="en-IN" sz="1000" dirty="0">
                <a:latin typeface="Georgia" panose="02040502050405020303" pitchFamily="18" charset="0"/>
              </a:rPr>
              <a:t>: Works smoothly across desktops, laptops, tablets, and mobile devices.</a:t>
            </a:r>
          </a:p>
          <a:p>
            <a:endParaRPr lang="en-IN" sz="1000" dirty="0">
              <a:latin typeface="Georgia" panose="02040502050405020303" pitchFamily="18" charset="0"/>
            </a:endParaRPr>
          </a:p>
          <a:p>
            <a:r>
              <a:rPr lang="en-IN" sz="1000" dirty="0">
                <a:latin typeface="Georgia" panose="02040502050405020303" pitchFamily="18" charset="0"/>
              </a:rPr>
              <a:t> </a:t>
            </a:r>
            <a:r>
              <a:rPr lang="en-IN" sz="1000" b="1" dirty="0">
                <a:latin typeface="Georgia" panose="02040502050405020303" pitchFamily="18" charset="0"/>
              </a:rPr>
              <a:t>Scalable Architecture: </a:t>
            </a:r>
            <a:r>
              <a:rPr lang="en-IN" sz="1000" dirty="0">
                <a:latin typeface="Georgia" panose="02040502050405020303" pitchFamily="18" charset="0"/>
              </a:rPr>
              <a:t>Designed to support additional disease prediction modules in the future. </a:t>
            </a:r>
          </a:p>
          <a:p>
            <a:endParaRPr lang="en-IN" sz="1000" dirty="0">
              <a:latin typeface="Georgia" panose="02040502050405020303" pitchFamily="18" charset="0"/>
            </a:endParaRPr>
          </a:p>
          <a:p>
            <a:r>
              <a:rPr lang="en-IN" sz="1000" b="1" dirty="0">
                <a:latin typeface="Georgia" panose="02040502050405020303" pitchFamily="18" charset="0"/>
              </a:rPr>
              <a:t>Easy-to-Use Interface</a:t>
            </a:r>
            <a:r>
              <a:rPr lang="en-IN" sz="1000" dirty="0">
                <a:latin typeface="Georgia" panose="02040502050405020303" pitchFamily="18" charset="0"/>
              </a:rPr>
              <a:t>: Simple layout that enables users with minimal technical knowledge to use the system. </a:t>
            </a:r>
          </a:p>
          <a:p>
            <a:endParaRPr lang="en-IN" sz="1000" dirty="0">
              <a:latin typeface="Georgia" panose="02040502050405020303" pitchFamily="18" charset="0"/>
            </a:endParaRPr>
          </a:p>
          <a:p>
            <a:r>
              <a:rPr lang="en-IN" sz="1000" b="1" dirty="0">
                <a:latin typeface="Georgia" panose="02040502050405020303" pitchFamily="18" charset="0"/>
              </a:rPr>
              <a:t>Reliable Model Deployment</a:t>
            </a:r>
            <a:r>
              <a:rPr lang="en-IN" sz="1000" dirty="0">
                <a:latin typeface="Georgia" panose="02040502050405020303" pitchFamily="18" charset="0"/>
              </a:rPr>
              <a:t>: Integrates trained models using </a:t>
            </a:r>
            <a:r>
              <a:rPr lang="en-IN" sz="1000" dirty="0" err="1">
                <a:latin typeface="Georgia" panose="02040502050405020303" pitchFamily="18" charset="0"/>
              </a:rPr>
              <a:t>Joblib</a:t>
            </a:r>
            <a:r>
              <a:rPr lang="en-IN" sz="1000" dirty="0">
                <a:latin typeface="Georgia" panose="02040502050405020303" pitchFamily="18" charset="0"/>
              </a:rPr>
              <a:t> for consistent and efficient predictions.</a:t>
            </a:r>
          </a:p>
          <a:p>
            <a:endParaRPr lang="en-IN" sz="1000" dirty="0">
              <a:latin typeface="Georgia" panose="02040502050405020303" pitchFamily="18" charset="0"/>
            </a:endParaRPr>
          </a:p>
          <a:p>
            <a:r>
              <a:rPr lang="en-IN" sz="1000" dirty="0">
                <a:latin typeface="Georgia" panose="02040502050405020303" pitchFamily="18" charset="0"/>
              </a:rPr>
              <a:t> </a:t>
            </a:r>
            <a:r>
              <a:rPr lang="en-IN" sz="1000" b="1" dirty="0">
                <a:latin typeface="Georgia" panose="02040502050405020303" pitchFamily="18" charset="0"/>
              </a:rPr>
              <a:t>Input Validation: </a:t>
            </a:r>
            <a:r>
              <a:rPr lang="en-IN" sz="1000" dirty="0">
                <a:latin typeface="Georgia" panose="02040502050405020303" pitchFamily="18" charset="0"/>
              </a:rPr>
              <a:t>Validates user-entered data to reduce errors and improve prediction accuracy. </a:t>
            </a:r>
          </a:p>
        </p:txBody>
      </p:sp>
      <p:sp>
        <p:nvSpPr>
          <p:cNvPr id="10" name="TextBox 9">
            <a:extLst>
              <a:ext uri="{FF2B5EF4-FFF2-40B4-BE49-F238E27FC236}">
                <a16:creationId xmlns:a16="http://schemas.microsoft.com/office/drawing/2014/main" id="{ADE9CE70-64D0-A6B7-3DC7-D9FE6A770E05}"/>
              </a:ext>
            </a:extLst>
          </p:cNvPr>
          <p:cNvSpPr txBox="1"/>
          <p:nvPr/>
        </p:nvSpPr>
        <p:spPr>
          <a:xfrm>
            <a:off x="3747492" y="1444986"/>
            <a:ext cx="274320" cy="369332"/>
          </a:xfrm>
          <a:prstGeom prst="rect">
            <a:avLst/>
          </a:prstGeom>
          <a:noFill/>
        </p:spPr>
        <p:txBody>
          <a:bodyPr wrap="square">
            <a:spAutoFit/>
          </a:bodyPr>
          <a:lstStyle/>
          <a:p>
            <a:r>
              <a:rPr lang="en-IN" dirty="0"/>
              <a:t>•</a:t>
            </a:r>
          </a:p>
        </p:txBody>
      </p:sp>
      <p:sp>
        <p:nvSpPr>
          <p:cNvPr id="12" name="TextBox 11">
            <a:extLst>
              <a:ext uri="{FF2B5EF4-FFF2-40B4-BE49-F238E27FC236}">
                <a16:creationId xmlns:a16="http://schemas.microsoft.com/office/drawing/2014/main" id="{504D0653-B88F-A840-9061-281841F7F778}"/>
              </a:ext>
            </a:extLst>
          </p:cNvPr>
          <p:cNvSpPr txBox="1"/>
          <p:nvPr/>
        </p:nvSpPr>
        <p:spPr>
          <a:xfrm>
            <a:off x="3742016" y="1880453"/>
            <a:ext cx="4572000" cy="369332"/>
          </a:xfrm>
          <a:prstGeom prst="rect">
            <a:avLst/>
          </a:prstGeom>
          <a:noFill/>
        </p:spPr>
        <p:txBody>
          <a:bodyPr wrap="square">
            <a:spAutoFit/>
          </a:bodyPr>
          <a:lstStyle/>
          <a:p>
            <a:r>
              <a:rPr lang="en-IN" dirty="0"/>
              <a:t>•</a:t>
            </a:r>
          </a:p>
        </p:txBody>
      </p:sp>
      <p:sp>
        <p:nvSpPr>
          <p:cNvPr id="14" name="TextBox 13">
            <a:extLst>
              <a:ext uri="{FF2B5EF4-FFF2-40B4-BE49-F238E27FC236}">
                <a16:creationId xmlns:a16="http://schemas.microsoft.com/office/drawing/2014/main" id="{0085FB8C-22D5-D357-643D-A0383D411EB1}"/>
              </a:ext>
            </a:extLst>
          </p:cNvPr>
          <p:cNvSpPr txBox="1"/>
          <p:nvPr/>
        </p:nvSpPr>
        <p:spPr>
          <a:xfrm>
            <a:off x="3747492" y="4634307"/>
            <a:ext cx="4572000" cy="369332"/>
          </a:xfrm>
          <a:prstGeom prst="rect">
            <a:avLst/>
          </a:prstGeom>
          <a:noFill/>
        </p:spPr>
        <p:txBody>
          <a:bodyPr wrap="square">
            <a:spAutoFit/>
          </a:bodyPr>
          <a:lstStyle/>
          <a:p>
            <a:r>
              <a:rPr lang="en-IN" dirty="0"/>
              <a:t>•</a:t>
            </a:r>
          </a:p>
        </p:txBody>
      </p:sp>
      <p:sp>
        <p:nvSpPr>
          <p:cNvPr id="16" name="TextBox 15">
            <a:extLst>
              <a:ext uri="{FF2B5EF4-FFF2-40B4-BE49-F238E27FC236}">
                <a16:creationId xmlns:a16="http://schemas.microsoft.com/office/drawing/2014/main" id="{46DB46EC-88EE-E62E-F4F8-1D056E60FE43}"/>
              </a:ext>
            </a:extLst>
          </p:cNvPr>
          <p:cNvSpPr txBox="1"/>
          <p:nvPr/>
        </p:nvSpPr>
        <p:spPr>
          <a:xfrm>
            <a:off x="3741083" y="4176048"/>
            <a:ext cx="4572000" cy="369332"/>
          </a:xfrm>
          <a:prstGeom prst="rect">
            <a:avLst/>
          </a:prstGeom>
          <a:noFill/>
        </p:spPr>
        <p:txBody>
          <a:bodyPr wrap="square">
            <a:spAutoFit/>
          </a:bodyPr>
          <a:lstStyle/>
          <a:p>
            <a:r>
              <a:rPr lang="en-IN" dirty="0"/>
              <a:t>•</a:t>
            </a:r>
          </a:p>
        </p:txBody>
      </p:sp>
      <p:sp>
        <p:nvSpPr>
          <p:cNvPr id="18" name="TextBox 17">
            <a:extLst>
              <a:ext uri="{FF2B5EF4-FFF2-40B4-BE49-F238E27FC236}">
                <a16:creationId xmlns:a16="http://schemas.microsoft.com/office/drawing/2014/main" id="{7B9D83A8-023B-42E2-F59D-CB2C9B6A798B}"/>
              </a:ext>
            </a:extLst>
          </p:cNvPr>
          <p:cNvSpPr txBox="1"/>
          <p:nvPr/>
        </p:nvSpPr>
        <p:spPr>
          <a:xfrm>
            <a:off x="3738880" y="2355334"/>
            <a:ext cx="4572000" cy="369332"/>
          </a:xfrm>
          <a:prstGeom prst="rect">
            <a:avLst/>
          </a:prstGeom>
          <a:noFill/>
        </p:spPr>
        <p:txBody>
          <a:bodyPr wrap="square">
            <a:spAutoFit/>
          </a:bodyPr>
          <a:lstStyle/>
          <a:p>
            <a:r>
              <a:rPr lang="en-IN" dirty="0"/>
              <a:t>•</a:t>
            </a:r>
          </a:p>
        </p:txBody>
      </p:sp>
      <p:sp>
        <p:nvSpPr>
          <p:cNvPr id="20" name="TextBox 19">
            <a:extLst>
              <a:ext uri="{FF2B5EF4-FFF2-40B4-BE49-F238E27FC236}">
                <a16:creationId xmlns:a16="http://schemas.microsoft.com/office/drawing/2014/main" id="{33AD3642-EEAD-DE72-DE32-8634B619426C}"/>
              </a:ext>
            </a:extLst>
          </p:cNvPr>
          <p:cNvSpPr txBox="1"/>
          <p:nvPr/>
        </p:nvSpPr>
        <p:spPr>
          <a:xfrm>
            <a:off x="3738880" y="2812425"/>
            <a:ext cx="4572000" cy="369332"/>
          </a:xfrm>
          <a:prstGeom prst="rect">
            <a:avLst/>
          </a:prstGeom>
          <a:noFill/>
        </p:spPr>
        <p:txBody>
          <a:bodyPr wrap="square">
            <a:spAutoFit/>
          </a:bodyPr>
          <a:lstStyle/>
          <a:p>
            <a:r>
              <a:rPr lang="en-IN" dirty="0"/>
              <a:t>•</a:t>
            </a:r>
          </a:p>
        </p:txBody>
      </p:sp>
      <p:sp>
        <p:nvSpPr>
          <p:cNvPr id="22" name="TextBox 21">
            <a:extLst>
              <a:ext uri="{FF2B5EF4-FFF2-40B4-BE49-F238E27FC236}">
                <a16:creationId xmlns:a16="http://schemas.microsoft.com/office/drawing/2014/main" id="{47FD73D6-BBB0-32BF-98B9-D4D247A774F3}"/>
              </a:ext>
            </a:extLst>
          </p:cNvPr>
          <p:cNvSpPr txBox="1"/>
          <p:nvPr/>
        </p:nvSpPr>
        <p:spPr>
          <a:xfrm>
            <a:off x="3740091" y="3717458"/>
            <a:ext cx="4572000" cy="369332"/>
          </a:xfrm>
          <a:prstGeom prst="rect">
            <a:avLst/>
          </a:prstGeom>
          <a:noFill/>
        </p:spPr>
        <p:txBody>
          <a:bodyPr wrap="square">
            <a:spAutoFit/>
          </a:bodyPr>
          <a:lstStyle/>
          <a:p>
            <a:r>
              <a:rPr lang="en-IN" dirty="0"/>
              <a:t>•</a:t>
            </a:r>
          </a:p>
        </p:txBody>
      </p:sp>
      <p:sp>
        <p:nvSpPr>
          <p:cNvPr id="24" name="TextBox 23">
            <a:extLst>
              <a:ext uri="{FF2B5EF4-FFF2-40B4-BE49-F238E27FC236}">
                <a16:creationId xmlns:a16="http://schemas.microsoft.com/office/drawing/2014/main" id="{1E083BB2-0660-A0E3-6321-6FEDE7BE078F}"/>
              </a:ext>
            </a:extLst>
          </p:cNvPr>
          <p:cNvSpPr txBox="1"/>
          <p:nvPr/>
        </p:nvSpPr>
        <p:spPr>
          <a:xfrm>
            <a:off x="3738880" y="3271015"/>
            <a:ext cx="4572000" cy="369332"/>
          </a:xfrm>
          <a:prstGeom prst="rect">
            <a:avLst/>
          </a:prstGeom>
          <a:noFill/>
        </p:spPr>
        <p:txBody>
          <a:bodyPr wrap="square">
            <a:spAutoFit/>
          </a:bodyPr>
          <a:lstStyle/>
          <a:p>
            <a:r>
              <a:rPr lang="en-IN" dirty="0"/>
              <a:t>•</a:t>
            </a:r>
          </a:p>
        </p:txBody>
      </p:sp>
      <p:pic>
        <p:nvPicPr>
          <p:cNvPr id="28" name="Picture 27">
            <a:extLst>
              <a:ext uri="{FF2B5EF4-FFF2-40B4-BE49-F238E27FC236}">
                <a16:creationId xmlns:a16="http://schemas.microsoft.com/office/drawing/2014/main" id="{2585A115-87C0-B965-761C-9E066C791DFE}"/>
              </a:ext>
            </a:extLst>
          </p:cNvPr>
          <p:cNvPicPr>
            <a:picLocks noChangeAspect="1"/>
          </p:cNvPicPr>
          <p:nvPr/>
        </p:nvPicPr>
        <p:blipFill>
          <a:blip r:embed="rId3"/>
          <a:stretch>
            <a:fillRect/>
          </a:stretch>
        </p:blipFill>
        <p:spPr>
          <a:xfrm>
            <a:off x="33369" y="1754331"/>
            <a:ext cx="3714123" cy="247608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3711759" y="447553"/>
            <a:ext cx="4722763" cy="465162"/>
          </a:xfrm>
          <a:prstGeom prst="rect">
            <a:avLst/>
          </a:prstGeom>
          <a:noFill/>
          <a:ln/>
        </p:spPr>
        <p:txBody>
          <a:bodyPr wrap="none" lIns="0" tIns="0" rIns="0" bIns="0" rtlCol="0" anchor="t"/>
          <a:lstStyle/>
          <a:p>
            <a:pPr marL="0" indent="0" algn="l">
              <a:lnSpc>
                <a:spcPct val="104000"/>
              </a:lnSpc>
              <a:buNone/>
            </a:pPr>
            <a:r>
              <a:rPr lang="en-US" sz="2900" b="1" dirty="0">
                <a:solidFill>
                  <a:srgbClr val="000000"/>
                </a:solidFill>
                <a:latin typeface="Petrona Bold" pitchFamily="34" charset="0"/>
                <a:ea typeface="Petrona Bold" pitchFamily="34" charset="-122"/>
                <a:cs typeface="Petrona Bold" pitchFamily="34" charset="-120"/>
              </a:rPr>
              <a:t>Results and Performance</a:t>
            </a:r>
            <a:endParaRPr lang="en-US" sz="2900" dirty="0"/>
          </a:p>
        </p:txBody>
      </p:sp>
      <p:sp>
        <p:nvSpPr>
          <p:cNvPr id="5" name="Text 1"/>
          <p:cNvSpPr/>
          <p:nvPr/>
        </p:nvSpPr>
        <p:spPr>
          <a:xfrm>
            <a:off x="6464201" y="1486049"/>
            <a:ext cx="264564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            </a:t>
            </a:r>
            <a:endParaRPr lang="en-US" sz="1100" dirty="0"/>
          </a:p>
        </p:txBody>
      </p:sp>
      <p:sp>
        <p:nvSpPr>
          <p:cNvPr id="6" name="Text 2"/>
          <p:cNvSpPr/>
          <p:nvPr/>
        </p:nvSpPr>
        <p:spPr>
          <a:xfrm>
            <a:off x="6464201" y="1840409"/>
            <a:ext cx="2188443" cy="2140446"/>
          </a:xfrm>
          <a:prstGeom prst="rect">
            <a:avLst/>
          </a:prstGeom>
          <a:noFill/>
          <a:ln/>
        </p:spPr>
        <p:txBody>
          <a:bodyPr wrap="square" lIns="0" tIns="0" rIns="0" bIns="0" rtlCol="0" anchor="t">
            <a:normAutofit/>
          </a:bodyPr>
          <a:lstStyle/>
          <a:p>
            <a:pPr marL="223520" indent="-223520" algn="l">
              <a:lnSpc>
                <a:spcPct val="133000"/>
              </a:lnSpc>
              <a:buSzPct val="100000"/>
              <a:buChar char="•"/>
            </a:pPr>
            <a:endParaRPr lang="en-US" sz="1100" dirty="0"/>
          </a:p>
        </p:txBody>
      </p:sp>
      <p:sp>
        <p:nvSpPr>
          <p:cNvPr id="7" name="Text 3"/>
          <p:cNvSpPr/>
          <p:nvPr/>
        </p:nvSpPr>
        <p:spPr>
          <a:xfrm>
            <a:off x="6464201" y="4108400"/>
            <a:ext cx="2645643" cy="226814"/>
          </a:xfrm>
          <a:prstGeom prst="rect">
            <a:avLst/>
          </a:prstGeom>
          <a:noFill/>
          <a:ln/>
        </p:spPr>
        <p:txBody>
          <a:bodyPr wrap="none" lIns="0" tIns="0" rIns="0" bIns="0" rtlCol="0" anchor="t"/>
          <a:lstStyle/>
          <a:p>
            <a:pPr marL="0" indent="0" algn="l">
              <a:lnSpc>
                <a:spcPct val="133000"/>
              </a:lnSpc>
              <a:buNone/>
            </a:pPr>
            <a:endParaRPr lang="en-US" sz="1100" dirty="0"/>
          </a:p>
        </p:txBody>
      </p:sp>
      <p:graphicFrame>
        <p:nvGraphicFramePr>
          <p:cNvPr id="13" name="Chart 12">
            <a:extLst>
              <a:ext uri="{FF2B5EF4-FFF2-40B4-BE49-F238E27FC236}">
                <a16:creationId xmlns:a16="http://schemas.microsoft.com/office/drawing/2014/main" id="{B898B6A3-8031-0A75-96EC-F9D05EAAE862}"/>
              </a:ext>
            </a:extLst>
          </p:cNvPr>
          <p:cNvGraphicFramePr/>
          <p:nvPr>
            <p:extLst>
              <p:ext uri="{D42A27DB-BD31-4B8C-83A1-F6EECF244321}">
                <p14:modId xmlns:p14="http://schemas.microsoft.com/office/powerpoint/2010/main" val="1695761580"/>
              </p:ext>
            </p:extLst>
          </p:nvPr>
        </p:nvGraphicFramePr>
        <p:xfrm>
          <a:off x="416560" y="1176724"/>
          <a:ext cx="4135120" cy="315849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Box 14">
            <a:extLst>
              <a:ext uri="{FF2B5EF4-FFF2-40B4-BE49-F238E27FC236}">
                <a16:creationId xmlns:a16="http://schemas.microsoft.com/office/drawing/2014/main" id="{722300E7-37FE-BDB1-FC2F-1CAC33748BC8}"/>
              </a:ext>
            </a:extLst>
          </p:cNvPr>
          <p:cNvSpPr txBox="1"/>
          <p:nvPr/>
        </p:nvSpPr>
        <p:spPr>
          <a:xfrm>
            <a:off x="4855862" y="1507817"/>
            <a:ext cx="3995220" cy="3323987"/>
          </a:xfrm>
          <a:prstGeom prst="rect">
            <a:avLst/>
          </a:prstGeom>
          <a:noFill/>
        </p:spPr>
        <p:txBody>
          <a:bodyPr wrap="square">
            <a:spAutoFit/>
          </a:bodyPr>
          <a:lstStyle/>
          <a:p>
            <a:pPr>
              <a:buNone/>
            </a:pPr>
            <a:r>
              <a:rPr lang="en-IN" sz="1400" b="1" dirty="0">
                <a:latin typeface="Georgia" panose="02040502050405020303" pitchFamily="18" charset="0"/>
              </a:rPr>
              <a:t>Model Performance Comparison</a:t>
            </a:r>
          </a:p>
          <a:p>
            <a:pPr>
              <a:buNone/>
            </a:pPr>
            <a:endParaRPr lang="en-IN" sz="1400" dirty="0">
              <a:latin typeface="Georgia" panose="02040502050405020303" pitchFamily="18" charset="0"/>
            </a:endParaRPr>
          </a:p>
          <a:p>
            <a:pPr>
              <a:buFont typeface="Arial" panose="020B0604020202020204" pitchFamily="34" charset="0"/>
              <a:buChar char="•"/>
            </a:pPr>
            <a:r>
              <a:rPr lang="en-IN" sz="1400" dirty="0">
                <a:latin typeface="Georgia" panose="02040502050405020303" pitchFamily="18" charset="0"/>
              </a:rPr>
              <a:t>Compares the performance of different machine learning models using standard evaluation metrics.</a:t>
            </a:r>
          </a:p>
          <a:p>
            <a:r>
              <a:rPr lang="en-IN" sz="1400" dirty="0">
                <a:latin typeface="Georgia" panose="02040502050405020303" pitchFamily="18" charset="0"/>
              </a:rPr>
              <a:t> </a:t>
            </a:r>
          </a:p>
          <a:p>
            <a:pPr>
              <a:buFont typeface="Arial" panose="020B0604020202020204" pitchFamily="34" charset="0"/>
              <a:buChar char="•"/>
            </a:pPr>
            <a:r>
              <a:rPr lang="en-IN" sz="1400" dirty="0">
                <a:latin typeface="Georgia" panose="02040502050405020303" pitchFamily="18" charset="0"/>
              </a:rPr>
              <a:t>Metrics such as Accuracy, Precision, Recall, and F1-Score are used to assess model effectiveness. </a:t>
            </a:r>
          </a:p>
          <a:p>
            <a:pPr>
              <a:buFont typeface="Arial" panose="020B0604020202020204" pitchFamily="34" charset="0"/>
              <a:buChar char="•"/>
            </a:pPr>
            <a:endParaRPr lang="en-IN" sz="1400" dirty="0">
              <a:latin typeface="Georgia" panose="02040502050405020303" pitchFamily="18" charset="0"/>
            </a:endParaRPr>
          </a:p>
          <a:p>
            <a:pPr>
              <a:buFont typeface="Arial" panose="020B0604020202020204" pitchFamily="34" charset="0"/>
              <a:buChar char="•"/>
            </a:pPr>
            <a:r>
              <a:rPr lang="en-IN" sz="1400" dirty="0">
                <a:latin typeface="Georgia" panose="02040502050405020303" pitchFamily="18" charset="0"/>
              </a:rPr>
              <a:t>The Random Forest model achieved the highest overall performance and was selected for deployment. </a:t>
            </a:r>
          </a:p>
          <a:p>
            <a:pPr>
              <a:buFont typeface="Arial" panose="020B0604020202020204" pitchFamily="34" charset="0"/>
              <a:buChar char="•"/>
            </a:pPr>
            <a:endParaRPr lang="en-IN" sz="1400" dirty="0">
              <a:latin typeface="Georgia" panose="02040502050405020303" pitchFamily="18" charset="0"/>
            </a:endParaRPr>
          </a:p>
          <a:p>
            <a:pPr>
              <a:buFont typeface="Arial" panose="020B0604020202020204" pitchFamily="34" charset="0"/>
              <a:buChar char="•"/>
            </a:pPr>
            <a:r>
              <a:rPr lang="en-IN" sz="1400" dirty="0">
                <a:latin typeface="Georgia" panose="02040502050405020303" pitchFamily="18" charset="0"/>
              </a:rPr>
              <a:t>The comparison demonstrates the model's reliability and suitability for disease prediction.</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180080" y="389928"/>
            <a:ext cx="2683961" cy="116236"/>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Georgia" panose="02040502050405020303" pitchFamily="18" charset="0"/>
                <a:ea typeface="Petrona Bold" pitchFamily="34" charset="-122"/>
                <a:cs typeface="Petrona Bold" pitchFamily="34" charset="-120"/>
              </a:rPr>
              <a:t>Applications &amp; Future Scope</a:t>
            </a:r>
            <a:endParaRPr lang="en-US" sz="1600" dirty="0">
              <a:latin typeface="Georgia" panose="02040502050405020303" pitchFamily="18" charset="0"/>
            </a:endParaRPr>
          </a:p>
        </p:txBody>
      </p:sp>
      <p:sp>
        <p:nvSpPr>
          <p:cNvPr id="3" name="Text 1"/>
          <p:cNvSpPr/>
          <p:nvPr/>
        </p:nvSpPr>
        <p:spPr>
          <a:xfrm>
            <a:off x="496119" y="2581647"/>
            <a:ext cx="3989412" cy="116235"/>
          </a:xfrm>
          <a:prstGeom prst="rect">
            <a:avLst/>
          </a:prstGeom>
          <a:noFill/>
          <a:ln/>
        </p:spPr>
        <p:txBody>
          <a:bodyPr wrap="none" lIns="0" tIns="0" rIns="0" bIns="0" rtlCol="0" anchor="t"/>
          <a:lstStyle/>
          <a:p>
            <a:pPr marL="0" indent="0" algn="l">
              <a:lnSpc>
                <a:spcPct val="104000"/>
              </a:lnSpc>
              <a:buNone/>
            </a:pPr>
            <a:endParaRPr lang="en-US" sz="700" dirty="0"/>
          </a:p>
        </p:txBody>
      </p:sp>
      <p:sp>
        <p:nvSpPr>
          <p:cNvPr id="8" name="TextBox 7">
            <a:extLst>
              <a:ext uri="{FF2B5EF4-FFF2-40B4-BE49-F238E27FC236}">
                <a16:creationId xmlns:a16="http://schemas.microsoft.com/office/drawing/2014/main" id="{7BF1393B-7908-3736-2875-5EFA6F0C82C4}"/>
              </a:ext>
            </a:extLst>
          </p:cNvPr>
          <p:cNvSpPr txBox="1"/>
          <p:nvPr/>
        </p:nvSpPr>
        <p:spPr>
          <a:xfrm>
            <a:off x="5069840" y="931604"/>
            <a:ext cx="3870960" cy="3046988"/>
          </a:xfrm>
          <a:prstGeom prst="rect">
            <a:avLst/>
          </a:prstGeom>
          <a:noFill/>
        </p:spPr>
        <p:txBody>
          <a:bodyPr wrap="square">
            <a:spAutoFit/>
          </a:bodyPr>
          <a:lstStyle/>
          <a:p>
            <a:pPr>
              <a:buNone/>
            </a:pPr>
            <a:r>
              <a:rPr lang="en-IN" sz="1200" b="1" dirty="0"/>
              <a:t>Future Scope</a:t>
            </a:r>
          </a:p>
          <a:p>
            <a:pPr>
              <a:buNone/>
            </a:pPr>
            <a:endParaRPr lang="en-IN" sz="1200" dirty="0"/>
          </a:p>
          <a:p>
            <a:pPr>
              <a:buFont typeface="Arial" panose="020B0604020202020204" pitchFamily="34" charset="0"/>
              <a:buChar char="•"/>
            </a:pPr>
            <a:r>
              <a:rPr lang="en-IN" sz="1200" dirty="0"/>
              <a:t>Expand the system to predict additional diseases such as </a:t>
            </a:r>
            <a:r>
              <a:rPr lang="en-IN" sz="1200" b="1" dirty="0"/>
              <a:t>diabetes, liver disease, and stroke</a:t>
            </a:r>
            <a:r>
              <a:rPr lang="en-IN" sz="1200" dirty="0"/>
              <a:t>. </a:t>
            </a:r>
          </a:p>
          <a:p>
            <a:pPr>
              <a:buFont typeface="Arial" panose="020B0604020202020204" pitchFamily="34" charset="0"/>
              <a:buChar char="•"/>
            </a:pPr>
            <a:r>
              <a:rPr lang="en-IN" sz="1200" dirty="0"/>
              <a:t>Develop a </a:t>
            </a:r>
            <a:r>
              <a:rPr lang="en-IN" sz="1200" b="1" dirty="0"/>
              <a:t>mobile application</a:t>
            </a:r>
            <a:r>
              <a:rPr lang="en-IN" sz="1200" dirty="0"/>
              <a:t> for easy access to health predictions anytime and anywhere. </a:t>
            </a:r>
          </a:p>
          <a:p>
            <a:pPr>
              <a:buFont typeface="Arial" panose="020B0604020202020204" pitchFamily="34" charset="0"/>
              <a:buChar char="•"/>
            </a:pPr>
            <a:r>
              <a:rPr lang="en-IN" sz="1200" dirty="0"/>
              <a:t>Improve prediction accuracy by training on larger and more diverse medical datasets. </a:t>
            </a:r>
          </a:p>
          <a:p>
            <a:pPr>
              <a:buFont typeface="Arial" panose="020B0604020202020204" pitchFamily="34" charset="0"/>
              <a:buChar char="•"/>
            </a:pPr>
            <a:r>
              <a:rPr lang="en-IN" sz="1200" dirty="0"/>
              <a:t>Enable integration with </a:t>
            </a:r>
            <a:r>
              <a:rPr lang="en-IN" sz="1200" b="1" dirty="0"/>
              <a:t>Electronic Health Records (EHR)</a:t>
            </a:r>
            <a:r>
              <a:rPr lang="en-IN" sz="1200" dirty="0"/>
              <a:t> and hospital management systems. </a:t>
            </a:r>
          </a:p>
          <a:p>
            <a:pPr>
              <a:buFont typeface="Arial" panose="020B0604020202020204" pitchFamily="34" charset="0"/>
              <a:buChar char="•"/>
            </a:pPr>
            <a:r>
              <a:rPr lang="en-IN" sz="1200" dirty="0"/>
              <a:t>Incorporate </a:t>
            </a:r>
            <a:r>
              <a:rPr lang="en-IN" sz="1200" b="1" dirty="0"/>
              <a:t>Explainable AI (XAI)</a:t>
            </a:r>
            <a:r>
              <a:rPr lang="en-IN" sz="1200" dirty="0"/>
              <a:t> to provide clear reasons behind each prediction. </a:t>
            </a:r>
          </a:p>
          <a:p>
            <a:pPr>
              <a:buFont typeface="Arial" panose="020B0604020202020204" pitchFamily="34" charset="0"/>
              <a:buChar char="•"/>
            </a:pPr>
            <a:r>
              <a:rPr lang="en-IN" sz="1200" dirty="0"/>
              <a:t>Add </a:t>
            </a:r>
            <a:r>
              <a:rPr lang="en-IN" sz="1200" b="1" dirty="0"/>
              <a:t>personalized diet, lifestyle, and medication recommendations</a:t>
            </a:r>
            <a:r>
              <a:rPr lang="en-IN" sz="1200" dirty="0"/>
              <a:t> based on prediction results. </a:t>
            </a:r>
          </a:p>
          <a:p>
            <a:pPr>
              <a:buFont typeface="Arial" panose="020B0604020202020204" pitchFamily="34" charset="0"/>
              <a:buChar char="•"/>
            </a:pPr>
            <a:r>
              <a:rPr lang="en-IN" sz="1200" dirty="0"/>
              <a:t>Deploy the application on a </a:t>
            </a:r>
            <a:r>
              <a:rPr lang="en-IN" sz="1200" b="1" dirty="0"/>
              <a:t>cloud platform</a:t>
            </a:r>
            <a:r>
              <a:rPr lang="en-IN" sz="1200" dirty="0"/>
              <a:t> to support real-time access and scalability.</a:t>
            </a:r>
          </a:p>
        </p:txBody>
      </p:sp>
      <p:sp>
        <p:nvSpPr>
          <p:cNvPr id="10" name="TextBox 9">
            <a:extLst>
              <a:ext uri="{FF2B5EF4-FFF2-40B4-BE49-F238E27FC236}">
                <a16:creationId xmlns:a16="http://schemas.microsoft.com/office/drawing/2014/main" id="{E33085B8-3E57-6C07-D088-50373ECDECE9}"/>
              </a:ext>
            </a:extLst>
          </p:cNvPr>
          <p:cNvSpPr txBox="1"/>
          <p:nvPr/>
        </p:nvSpPr>
        <p:spPr>
          <a:xfrm>
            <a:off x="91440" y="1113557"/>
            <a:ext cx="4572000" cy="2677656"/>
          </a:xfrm>
          <a:prstGeom prst="rect">
            <a:avLst/>
          </a:prstGeom>
          <a:noFill/>
        </p:spPr>
        <p:txBody>
          <a:bodyPr wrap="square">
            <a:spAutoFit/>
          </a:bodyPr>
          <a:lstStyle/>
          <a:p>
            <a:pPr>
              <a:buNone/>
            </a:pPr>
            <a:r>
              <a:rPr lang="en-IN" sz="1200" b="1" dirty="0">
                <a:latin typeface="Georgia" panose="02040502050405020303" pitchFamily="18" charset="0"/>
              </a:rPr>
              <a:t>Applications</a:t>
            </a:r>
          </a:p>
          <a:p>
            <a:pPr>
              <a:buNone/>
            </a:pPr>
            <a:endParaRPr lang="en-IN" sz="1200" b="1" dirty="0">
              <a:latin typeface="Georgia" panose="02040502050405020303" pitchFamily="18" charset="0"/>
            </a:endParaRPr>
          </a:p>
          <a:p>
            <a:pPr>
              <a:buFont typeface="Arial" panose="020B0604020202020204" pitchFamily="34" charset="0"/>
              <a:buChar char="•"/>
            </a:pPr>
            <a:r>
              <a:rPr lang="en-IN" sz="1200" b="1" dirty="0">
                <a:latin typeface="Georgia" panose="02040502050405020303" pitchFamily="18" charset="0"/>
              </a:rPr>
              <a:t>Healthcare </a:t>
            </a:r>
            <a:r>
              <a:rPr lang="en-IN" sz="1200" b="1" dirty="0" err="1">
                <a:latin typeface="Georgia" panose="02040502050405020303" pitchFamily="18" charset="0"/>
              </a:rPr>
              <a:t>Centers</a:t>
            </a:r>
            <a:r>
              <a:rPr lang="en-IN" sz="1200" b="1" dirty="0">
                <a:latin typeface="Georgia" panose="02040502050405020303" pitchFamily="18" charset="0"/>
              </a:rPr>
              <a:t>:</a:t>
            </a:r>
            <a:r>
              <a:rPr lang="en-IN" sz="1200" dirty="0">
                <a:latin typeface="Georgia" panose="02040502050405020303" pitchFamily="18" charset="0"/>
              </a:rPr>
              <a:t> Assists doctors in the early screening of heart and kidney diseases. </a:t>
            </a:r>
          </a:p>
          <a:p>
            <a:pPr>
              <a:buFont typeface="Arial" panose="020B0604020202020204" pitchFamily="34" charset="0"/>
              <a:buChar char="•"/>
            </a:pPr>
            <a:r>
              <a:rPr lang="en-IN" sz="1200" b="1" dirty="0">
                <a:latin typeface="Georgia" panose="02040502050405020303" pitchFamily="18" charset="0"/>
              </a:rPr>
              <a:t>Hospitals &amp; Clinics:</a:t>
            </a:r>
            <a:r>
              <a:rPr lang="en-IN" sz="1200" dirty="0">
                <a:latin typeface="Georgia" panose="02040502050405020303" pitchFamily="18" charset="0"/>
              </a:rPr>
              <a:t> Supports quick preliminary risk assessment before detailed medical diagnosis. </a:t>
            </a:r>
          </a:p>
          <a:p>
            <a:pPr>
              <a:buFont typeface="Arial" panose="020B0604020202020204" pitchFamily="34" charset="0"/>
              <a:buChar char="•"/>
            </a:pPr>
            <a:r>
              <a:rPr lang="en-IN" sz="1200" b="1" dirty="0">
                <a:latin typeface="Georgia" panose="02040502050405020303" pitchFamily="18" charset="0"/>
              </a:rPr>
              <a:t>Telemedicine Platforms:</a:t>
            </a:r>
            <a:r>
              <a:rPr lang="en-IN" sz="1200" dirty="0">
                <a:latin typeface="Georgia" panose="02040502050405020303" pitchFamily="18" charset="0"/>
              </a:rPr>
              <a:t> Enables remote health monitoring and online disease risk prediction. </a:t>
            </a:r>
          </a:p>
          <a:p>
            <a:pPr>
              <a:buFont typeface="Arial" panose="020B0604020202020204" pitchFamily="34" charset="0"/>
              <a:buChar char="•"/>
            </a:pPr>
            <a:r>
              <a:rPr lang="en-IN" sz="1200" b="1" dirty="0">
                <a:latin typeface="Georgia" panose="02040502050405020303" pitchFamily="18" charset="0"/>
              </a:rPr>
              <a:t>Health Awareness Programs:</a:t>
            </a:r>
            <a:r>
              <a:rPr lang="en-IN" sz="1200" dirty="0">
                <a:latin typeface="Georgia" panose="02040502050405020303" pitchFamily="18" charset="0"/>
              </a:rPr>
              <a:t> Promotes preventive healthcare through early detection and timely intervention. </a:t>
            </a:r>
          </a:p>
          <a:p>
            <a:pPr>
              <a:buFont typeface="Arial" panose="020B0604020202020204" pitchFamily="34" charset="0"/>
              <a:buChar char="•"/>
            </a:pPr>
            <a:r>
              <a:rPr lang="en-IN" sz="1200" b="1" dirty="0">
                <a:latin typeface="Georgia" panose="02040502050405020303" pitchFamily="18" charset="0"/>
              </a:rPr>
              <a:t>Medical Research:</a:t>
            </a:r>
            <a:r>
              <a:rPr lang="en-IN" sz="1200" dirty="0">
                <a:latin typeface="Georgia" panose="02040502050405020303" pitchFamily="18" charset="0"/>
              </a:rPr>
              <a:t> Assists researchers in </a:t>
            </a:r>
            <a:r>
              <a:rPr lang="en-IN" sz="1200" dirty="0" err="1">
                <a:latin typeface="Georgia" panose="02040502050405020303" pitchFamily="18" charset="0"/>
              </a:rPr>
              <a:t>analyzing</a:t>
            </a:r>
            <a:r>
              <a:rPr lang="en-IN" sz="1200" dirty="0">
                <a:latin typeface="Georgia" panose="02040502050405020303" pitchFamily="18" charset="0"/>
              </a:rPr>
              <a:t> healthcare data and improving predictive models. </a:t>
            </a:r>
          </a:p>
          <a:p>
            <a:pPr>
              <a:buFont typeface="Arial" panose="020B0604020202020204" pitchFamily="34" charset="0"/>
              <a:buChar char="•"/>
            </a:pPr>
            <a:r>
              <a:rPr lang="en-IN" sz="1200" b="1" dirty="0">
                <a:latin typeface="Georgia" panose="02040502050405020303" pitchFamily="18" charset="0"/>
              </a:rPr>
              <a:t>Educational Purpose:</a:t>
            </a:r>
            <a:r>
              <a:rPr lang="en-IN" sz="1200" dirty="0">
                <a:latin typeface="Georgia" panose="02040502050405020303" pitchFamily="18" charset="0"/>
              </a:rPr>
              <a:t> Serves as a practical machine learning application for healthcare and academic projects.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496119" y="434206"/>
            <a:ext cx="4722763" cy="370656"/>
          </a:xfrm>
          <a:prstGeom prst="rect">
            <a:avLst/>
          </a:prstGeom>
          <a:noFill/>
          <a:ln/>
        </p:spPr>
        <p:txBody>
          <a:bodyPr wrap="none" lIns="0" tIns="0" rIns="0" bIns="0" rtlCol="0" anchor="t"/>
          <a:lstStyle/>
          <a:p>
            <a:pPr marL="0" indent="0" algn="l">
              <a:lnSpc>
                <a:spcPct val="104000"/>
              </a:lnSpc>
              <a:buNone/>
            </a:pPr>
            <a:r>
              <a:rPr lang="en-US" sz="2300" b="1" dirty="0">
                <a:solidFill>
                  <a:srgbClr val="000000"/>
                </a:solidFill>
                <a:latin typeface="Petrona Bold" pitchFamily="34" charset="0"/>
                <a:ea typeface="Petrona Bold" pitchFamily="34" charset="-122"/>
                <a:cs typeface="Petrona Bold" pitchFamily="34" charset="-120"/>
              </a:rPr>
              <a:t>Conclusion</a:t>
            </a:r>
            <a:endParaRPr lang="en-US" sz="2300" dirty="0"/>
          </a:p>
        </p:txBody>
      </p:sp>
      <p:sp>
        <p:nvSpPr>
          <p:cNvPr id="4" name="Shape 1"/>
          <p:cNvSpPr/>
          <p:nvPr/>
        </p:nvSpPr>
        <p:spPr>
          <a:xfrm>
            <a:off x="496119" y="939850"/>
            <a:ext cx="4722763" cy="818555"/>
          </a:xfrm>
          <a:prstGeom prst="roundRect">
            <a:avLst>
              <a:gd name="adj" fmla="val 5797"/>
            </a:avLst>
          </a:prstGeom>
          <a:solidFill>
            <a:srgbClr val="FFFFFF">
              <a:alpha val="95000"/>
            </a:srgbClr>
          </a:solidFill>
          <a:ln w="14288">
            <a:solidFill>
              <a:srgbClr val="B2D4E5"/>
            </a:solidFill>
            <a:prstDash val="solid"/>
          </a:ln>
        </p:spPr>
      </p:sp>
      <p:sp>
        <p:nvSpPr>
          <p:cNvPr id="5" name="Text 2"/>
          <p:cNvSpPr/>
          <p:nvPr/>
        </p:nvSpPr>
        <p:spPr>
          <a:xfrm>
            <a:off x="623367" y="1067098"/>
            <a:ext cx="4468267" cy="185365"/>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Summary</a:t>
            </a:r>
            <a:endParaRPr lang="en-US" sz="1150" dirty="0"/>
          </a:p>
        </p:txBody>
      </p:sp>
      <p:sp>
        <p:nvSpPr>
          <p:cNvPr id="6" name="Text 3"/>
          <p:cNvSpPr/>
          <p:nvPr/>
        </p:nvSpPr>
        <p:spPr>
          <a:xfrm>
            <a:off x="623367" y="1306413"/>
            <a:ext cx="4468267"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272525"/>
                </a:solidFill>
                <a:latin typeface="Inter" pitchFamily="34" charset="0"/>
                <a:ea typeface="Inter" pitchFamily="34" charset="-122"/>
                <a:cs typeface="Inter" pitchFamily="34" charset="-120"/>
              </a:rPr>
              <a:t>MediPredict AI integrates ML models into a secure web app to provide rapid, multi-disease screening.</a:t>
            </a:r>
            <a:endParaRPr lang="en-US" sz="850" dirty="0"/>
          </a:p>
        </p:txBody>
      </p:sp>
      <p:sp>
        <p:nvSpPr>
          <p:cNvPr id="7" name="Shape 4"/>
          <p:cNvSpPr/>
          <p:nvPr/>
        </p:nvSpPr>
        <p:spPr>
          <a:xfrm>
            <a:off x="496119" y="1848371"/>
            <a:ext cx="4722763" cy="1043880"/>
          </a:xfrm>
          <a:prstGeom prst="roundRect">
            <a:avLst>
              <a:gd name="adj" fmla="val 4545"/>
            </a:avLst>
          </a:prstGeom>
          <a:solidFill>
            <a:srgbClr val="FFFFFF">
              <a:alpha val="95000"/>
            </a:srgbClr>
          </a:solidFill>
          <a:ln w="14288">
            <a:solidFill>
              <a:srgbClr val="B2D4E5"/>
            </a:solidFill>
            <a:prstDash val="solid"/>
          </a:ln>
        </p:spPr>
      </p:sp>
      <p:sp>
        <p:nvSpPr>
          <p:cNvPr id="8" name="Text 5"/>
          <p:cNvSpPr/>
          <p:nvPr/>
        </p:nvSpPr>
        <p:spPr>
          <a:xfrm>
            <a:off x="623367" y="1975619"/>
            <a:ext cx="4468267" cy="185365"/>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Key achievements</a:t>
            </a:r>
            <a:endParaRPr lang="en-US" sz="1150" dirty="0"/>
          </a:p>
        </p:txBody>
      </p:sp>
      <p:sp>
        <p:nvSpPr>
          <p:cNvPr id="9" name="Text 6"/>
          <p:cNvSpPr/>
          <p:nvPr/>
        </p:nvSpPr>
        <p:spPr>
          <a:xfrm>
            <a:off x="623367" y="2214935"/>
            <a:ext cx="4468267" cy="550069"/>
          </a:xfrm>
          <a:prstGeom prst="rect">
            <a:avLst/>
          </a:prstGeom>
          <a:noFill/>
          <a:ln/>
        </p:spPr>
        <p:txBody>
          <a:bodyPr wrap="square" lIns="0" tIns="0" rIns="0" bIns="0" rtlCol="0" anchor="t">
            <a:normAutofit/>
          </a:bodyPr>
          <a:lstStyle/>
          <a:p>
            <a:pPr marL="172720" indent="-172720" algn="l">
              <a:lnSpc>
                <a:spcPct val="120000"/>
              </a:lnSpc>
              <a:buSzPct val="100000"/>
              <a:buChar char="•"/>
            </a:pPr>
            <a:r>
              <a:rPr lang="en-US" sz="850" dirty="0">
                <a:solidFill>
                  <a:srgbClr val="272525"/>
                </a:solidFill>
                <a:latin typeface="Inter" pitchFamily="34" charset="0"/>
                <a:ea typeface="Inter" pitchFamily="34" charset="-122"/>
                <a:cs typeface="Inter" pitchFamily="34" charset="-120"/>
              </a:rPr>
              <a:t>Developed heart &amp; kidney prediction modules</a:t>
            </a:r>
            <a:endParaRPr lang="en-US" sz="850" dirty="0"/>
          </a:p>
          <a:p>
            <a:pPr marL="172720" indent="-172720" algn="l">
              <a:lnSpc>
                <a:spcPct val="120000"/>
              </a:lnSpc>
              <a:buSzPct val="100000"/>
              <a:buChar char="•"/>
            </a:pPr>
            <a:r>
              <a:rPr lang="en-US" sz="850" dirty="0">
                <a:solidFill>
                  <a:srgbClr val="272525"/>
                </a:solidFill>
                <a:latin typeface="Inter" pitchFamily="34" charset="0"/>
                <a:ea typeface="Inter" pitchFamily="34" charset="-122"/>
                <a:cs typeface="Inter" pitchFamily="34" charset="-120"/>
              </a:rPr>
              <a:t>Deployed Flask API with serialized models</a:t>
            </a:r>
            <a:endParaRPr lang="en-US" sz="850" dirty="0"/>
          </a:p>
          <a:p>
            <a:pPr marL="172720" indent="-172720" algn="l">
              <a:lnSpc>
                <a:spcPct val="120000"/>
              </a:lnSpc>
              <a:buSzPct val="100000"/>
              <a:buChar char="•"/>
            </a:pPr>
            <a:r>
              <a:rPr lang="en-US" sz="850" dirty="0">
                <a:solidFill>
                  <a:srgbClr val="272525"/>
                </a:solidFill>
                <a:latin typeface="Inter" pitchFamily="34" charset="0"/>
                <a:ea typeface="Inter" pitchFamily="34" charset="-122"/>
                <a:cs typeface="Inter" pitchFamily="34" charset="-120"/>
              </a:rPr>
              <a:t>Responsive UI with clear reports</a:t>
            </a:r>
            <a:endParaRPr lang="en-US" sz="850" dirty="0"/>
          </a:p>
        </p:txBody>
      </p:sp>
      <p:sp>
        <p:nvSpPr>
          <p:cNvPr id="10" name="Shape 7"/>
          <p:cNvSpPr/>
          <p:nvPr/>
        </p:nvSpPr>
        <p:spPr>
          <a:xfrm>
            <a:off x="496119" y="2982218"/>
            <a:ext cx="4722763" cy="818555"/>
          </a:xfrm>
          <a:prstGeom prst="roundRect">
            <a:avLst>
              <a:gd name="adj" fmla="val 5797"/>
            </a:avLst>
          </a:prstGeom>
          <a:solidFill>
            <a:srgbClr val="FFFFFF">
              <a:alpha val="95000"/>
            </a:srgbClr>
          </a:solidFill>
          <a:ln w="14288">
            <a:solidFill>
              <a:srgbClr val="B2D4E5"/>
            </a:solidFill>
            <a:prstDash val="solid"/>
          </a:ln>
        </p:spPr>
      </p:sp>
      <p:sp>
        <p:nvSpPr>
          <p:cNvPr id="11" name="Text 8"/>
          <p:cNvSpPr/>
          <p:nvPr/>
        </p:nvSpPr>
        <p:spPr>
          <a:xfrm>
            <a:off x="623367" y="3109466"/>
            <a:ext cx="4468267" cy="185365"/>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Real-world impact</a:t>
            </a:r>
            <a:endParaRPr lang="en-US" sz="1150" dirty="0"/>
          </a:p>
        </p:txBody>
      </p:sp>
      <p:sp>
        <p:nvSpPr>
          <p:cNvPr id="12" name="Text 9"/>
          <p:cNvSpPr/>
          <p:nvPr/>
        </p:nvSpPr>
        <p:spPr>
          <a:xfrm>
            <a:off x="623367" y="3348782"/>
            <a:ext cx="4468267"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272525"/>
                </a:solidFill>
                <a:latin typeface="Inter" pitchFamily="34" charset="0"/>
                <a:ea typeface="Inter" pitchFamily="34" charset="-122"/>
                <a:cs typeface="Inter" pitchFamily="34" charset="-120"/>
              </a:rPr>
              <a:t>Supports early detection, improves triage in low-resource settings, and augments clinician decision-making.</a:t>
            </a:r>
            <a:endParaRPr lang="en-US" sz="850" dirty="0"/>
          </a:p>
        </p:txBody>
      </p:sp>
      <p:sp>
        <p:nvSpPr>
          <p:cNvPr id="13" name="Shape 10"/>
          <p:cNvSpPr/>
          <p:nvPr/>
        </p:nvSpPr>
        <p:spPr>
          <a:xfrm>
            <a:off x="496119" y="3890739"/>
            <a:ext cx="4722763" cy="818555"/>
          </a:xfrm>
          <a:prstGeom prst="roundRect">
            <a:avLst>
              <a:gd name="adj" fmla="val 5797"/>
            </a:avLst>
          </a:prstGeom>
          <a:solidFill>
            <a:srgbClr val="FFFFFF">
              <a:alpha val="95000"/>
            </a:srgbClr>
          </a:solidFill>
          <a:ln w="14288">
            <a:solidFill>
              <a:srgbClr val="B2D4E5"/>
            </a:solidFill>
            <a:prstDash val="solid"/>
          </a:ln>
        </p:spPr>
      </p:sp>
      <p:sp>
        <p:nvSpPr>
          <p:cNvPr id="14" name="Text 11"/>
          <p:cNvSpPr/>
          <p:nvPr/>
        </p:nvSpPr>
        <p:spPr>
          <a:xfrm>
            <a:off x="623367" y="4017987"/>
            <a:ext cx="4468267" cy="185365"/>
          </a:xfrm>
          <a:prstGeom prst="rect">
            <a:avLst/>
          </a:prstGeom>
          <a:noFill/>
          <a:ln/>
        </p:spPr>
        <p:txBody>
          <a:bodyPr wrap="none" lIns="0" tIns="0" rIns="0" bIns="0" rtlCol="0" anchor="t"/>
          <a:lstStyle/>
          <a:p>
            <a:pPr marL="0" indent="0" algn="l">
              <a:lnSpc>
                <a:spcPct val="104000"/>
              </a:lnSpc>
              <a:buNone/>
            </a:pPr>
            <a:r>
              <a:rPr lang="en-US" sz="1150" b="1" dirty="0">
                <a:solidFill>
                  <a:srgbClr val="272525"/>
                </a:solidFill>
                <a:latin typeface="Petrona Bold" pitchFamily="34" charset="0"/>
                <a:ea typeface="Petrona Bold" pitchFamily="34" charset="-122"/>
                <a:cs typeface="Petrona Bold" pitchFamily="34" charset="-120"/>
              </a:rPr>
              <a:t>Final conclusion</a:t>
            </a:r>
            <a:endParaRPr lang="en-US" sz="1150" dirty="0"/>
          </a:p>
        </p:txBody>
      </p:sp>
      <p:sp>
        <p:nvSpPr>
          <p:cNvPr id="15" name="Text 12"/>
          <p:cNvSpPr/>
          <p:nvPr/>
        </p:nvSpPr>
        <p:spPr>
          <a:xfrm>
            <a:off x="623367" y="4257303"/>
            <a:ext cx="4468267"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272525"/>
                </a:solidFill>
                <a:latin typeface="Inter" pitchFamily="34" charset="0"/>
                <a:ea typeface="Inter" pitchFamily="34" charset="-122"/>
                <a:cs typeface="Inter" pitchFamily="34" charset="-120"/>
              </a:rPr>
              <a:t>MediPredict AI is a practical, extensible capstone system ready for pilot deployment and further extension.</a:t>
            </a:r>
            <a:endParaRPr lang="en-US" sz="850" dirty="0"/>
          </a:p>
        </p:txBody>
      </p:sp>
      <p:pic>
        <p:nvPicPr>
          <p:cNvPr id="17" name="Picture 16">
            <a:extLst>
              <a:ext uri="{FF2B5EF4-FFF2-40B4-BE49-F238E27FC236}">
                <a16:creationId xmlns:a16="http://schemas.microsoft.com/office/drawing/2014/main" id="{C9C3F861-0E70-A71D-BD78-B0CEFBE74E25}"/>
              </a:ext>
            </a:extLst>
          </p:cNvPr>
          <p:cNvPicPr>
            <a:picLocks noChangeAspect="1"/>
          </p:cNvPicPr>
          <p:nvPr/>
        </p:nvPicPr>
        <p:blipFill>
          <a:blip r:embed="rId3"/>
          <a:stretch>
            <a:fillRect/>
          </a:stretch>
        </p:blipFill>
        <p:spPr>
          <a:xfrm>
            <a:off x="5543338" y="173655"/>
            <a:ext cx="2977295" cy="47961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B3480C6-9C02-1651-10E5-E23DFB4F68C4}"/>
              </a:ext>
            </a:extLst>
          </p:cNvPr>
          <p:cNvGrpSpPr/>
          <p:nvPr/>
        </p:nvGrpSpPr>
        <p:grpSpPr>
          <a:xfrm>
            <a:off x="775504" y="1620456"/>
            <a:ext cx="7153154" cy="2578244"/>
            <a:chOff x="775504" y="1620456"/>
            <a:chExt cx="7153154" cy="2578244"/>
          </a:xfrm>
        </p:grpSpPr>
        <p:sp>
          <p:nvSpPr>
            <p:cNvPr id="3" name="TextBox 2">
              <a:extLst>
                <a:ext uri="{FF2B5EF4-FFF2-40B4-BE49-F238E27FC236}">
                  <a16:creationId xmlns:a16="http://schemas.microsoft.com/office/drawing/2014/main" id="{A8B1EC27-AFBE-37B1-BA87-58ADFA8B0BD0}"/>
                </a:ext>
              </a:extLst>
            </p:cNvPr>
            <p:cNvSpPr txBox="1"/>
            <p:nvPr/>
          </p:nvSpPr>
          <p:spPr>
            <a:xfrm>
              <a:off x="775504" y="1620456"/>
              <a:ext cx="7153154" cy="1200329"/>
            </a:xfrm>
            <a:prstGeom prst="rect">
              <a:avLst/>
            </a:prstGeom>
            <a:noFill/>
          </p:spPr>
          <p:txBody>
            <a:bodyPr wrap="square">
              <a:spAutoFit/>
            </a:bodyPr>
            <a:lstStyle/>
            <a:p>
              <a:r>
                <a:rPr lang="en-IN" sz="7200" dirty="0">
                  <a:latin typeface="Goudy Stout" panose="0202090407030B020401" pitchFamily="18" charset="0"/>
                </a:rPr>
                <a:t>Thank </a:t>
              </a:r>
            </a:p>
          </p:txBody>
        </p:sp>
        <p:sp>
          <p:nvSpPr>
            <p:cNvPr id="5" name="TextBox 4">
              <a:extLst>
                <a:ext uri="{FF2B5EF4-FFF2-40B4-BE49-F238E27FC236}">
                  <a16:creationId xmlns:a16="http://schemas.microsoft.com/office/drawing/2014/main" id="{C45AE5A1-F10E-EEC1-4628-19E9E312611F}"/>
                </a:ext>
              </a:extLst>
            </p:cNvPr>
            <p:cNvSpPr txBox="1"/>
            <p:nvPr/>
          </p:nvSpPr>
          <p:spPr>
            <a:xfrm>
              <a:off x="2286000" y="2998371"/>
              <a:ext cx="4572000" cy="1200329"/>
            </a:xfrm>
            <a:prstGeom prst="rect">
              <a:avLst/>
            </a:prstGeom>
            <a:noFill/>
          </p:spPr>
          <p:txBody>
            <a:bodyPr wrap="square">
              <a:spAutoFit/>
            </a:bodyPr>
            <a:lstStyle/>
            <a:p>
              <a:r>
                <a:rPr lang="en-IN" sz="7200" dirty="0">
                  <a:latin typeface="Goudy Stout" panose="0202090407030B020401" pitchFamily="18" charset="0"/>
                </a:rPr>
                <a:t>YOU</a:t>
              </a:r>
            </a:p>
          </p:txBody>
        </p:sp>
      </p:grpSp>
    </p:spTree>
    <p:extLst>
      <p:ext uri="{BB962C8B-B14F-4D97-AF65-F5344CB8AC3E}">
        <p14:creationId xmlns:p14="http://schemas.microsoft.com/office/powerpoint/2010/main" val="135443325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Vapor Trail</Template>
  <TotalTime>122</TotalTime>
  <Words>1252</Words>
  <Application>Microsoft Office PowerPoint</Application>
  <PresentationFormat>On-screen Show (16:9)</PresentationFormat>
  <Paragraphs>179</Paragraphs>
  <Slides>12</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Helvetica Neue</vt:lpstr>
      <vt:lpstr>Century Gothic</vt:lpstr>
      <vt:lpstr>Inter</vt:lpstr>
      <vt:lpstr>Petrona Bold</vt:lpstr>
      <vt:lpstr>Georgia</vt:lpstr>
      <vt:lpstr>Inter Bold</vt:lpstr>
      <vt:lpstr>Arial</vt:lpstr>
      <vt:lpstr>Goudy Stout</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Haris Rahman</cp:lastModifiedBy>
  <cp:revision>2</cp:revision>
  <dcterms:created xsi:type="dcterms:W3CDTF">2026-07-13T15:23:11Z</dcterms:created>
  <dcterms:modified xsi:type="dcterms:W3CDTF">2026-07-13T18:21:10Z</dcterms:modified>
</cp:coreProperties>
</file>